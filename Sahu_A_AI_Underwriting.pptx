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9" r:id="rId1"/>
    <p:sldMasterId id="2147483659" r:id="rId2"/>
    <p:sldMasterId id="2147483669" r:id="rId3"/>
  </p:sldMasterIdLst>
  <p:notesMasterIdLst>
    <p:notesMasterId r:id="rId18"/>
  </p:notesMasterIdLst>
  <p:sldIdLst>
    <p:sldId id="711" r:id="rId4"/>
    <p:sldId id="256" r:id="rId5"/>
    <p:sldId id="257" r:id="rId6"/>
    <p:sldId id="258" r:id="rId7"/>
    <p:sldId id="259" r:id="rId8"/>
    <p:sldId id="260" r:id="rId9"/>
    <p:sldId id="261" r:id="rId10"/>
    <p:sldId id="262" r:id="rId11"/>
    <p:sldId id="263" r:id="rId12"/>
    <p:sldId id="264" r:id="rId13"/>
    <p:sldId id="265" r:id="rId14"/>
    <p:sldId id="266" r:id="rId15"/>
    <p:sldId id="267" r:id="rId16"/>
    <p:sldId id="751" r:id="rId17"/>
  </p:sldIdLst>
  <p:sldSz cx="9144000" cy="5143500" type="screen16x9"/>
  <p:notesSz cx="6858000" cy="9313863"/>
  <p:defaultTextStyle>
    <a:defPPr>
      <a:defRPr lang="en-US"/>
    </a:defPPr>
    <a:lvl1pPr algn="l" rtl="0" fontAlgn="base">
      <a:spcBef>
        <a:spcPct val="0"/>
      </a:spcBef>
      <a:spcAft>
        <a:spcPct val="0"/>
      </a:spcAft>
      <a:defRPr sz="2400" kern="1200">
        <a:solidFill>
          <a:schemeClr val="tx1"/>
        </a:solidFill>
        <a:latin typeface="Arial" charset="0"/>
        <a:ea typeface="ヒラギノ角ゴ Pro W3"/>
        <a:cs typeface="Arial" charset="0"/>
      </a:defRPr>
    </a:lvl1pPr>
    <a:lvl2pPr marL="457200" algn="l" rtl="0" fontAlgn="base">
      <a:spcBef>
        <a:spcPct val="0"/>
      </a:spcBef>
      <a:spcAft>
        <a:spcPct val="0"/>
      </a:spcAft>
      <a:defRPr sz="2400" kern="1200">
        <a:solidFill>
          <a:schemeClr val="tx1"/>
        </a:solidFill>
        <a:latin typeface="Arial" charset="0"/>
        <a:ea typeface="ヒラギノ角ゴ Pro W3"/>
        <a:cs typeface="Arial" charset="0"/>
      </a:defRPr>
    </a:lvl2pPr>
    <a:lvl3pPr marL="914400" algn="l" rtl="0" fontAlgn="base">
      <a:spcBef>
        <a:spcPct val="0"/>
      </a:spcBef>
      <a:spcAft>
        <a:spcPct val="0"/>
      </a:spcAft>
      <a:defRPr sz="2400" kern="1200">
        <a:solidFill>
          <a:schemeClr val="tx1"/>
        </a:solidFill>
        <a:latin typeface="Arial" charset="0"/>
        <a:ea typeface="ヒラギノ角ゴ Pro W3"/>
        <a:cs typeface="Arial" charset="0"/>
      </a:defRPr>
    </a:lvl3pPr>
    <a:lvl4pPr marL="1371600" algn="l" rtl="0" fontAlgn="base">
      <a:spcBef>
        <a:spcPct val="0"/>
      </a:spcBef>
      <a:spcAft>
        <a:spcPct val="0"/>
      </a:spcAft>
      <a:defRPr sz="2400" kern="1200">
        <a:solidFill>
          <a:schemeClr val="tx1"/>
        </a:solidFill>
        <a:latin typeface="Arial" charset="0"/>
        <a:ea typeface="ヒラギノ角ゴ Pro W3"/>
        <a:cs typeface="Arial" charset="0"/>
      </a:defRPr>
    </a:lvl4pPr>
    <a:lvl5pPr marL="1828800" algn="l" rtl="0" fontAlgn="base">
      <a:spcBef>
        <a:spcPct val="0"/>
      </a:spcBef>
      <a:spcAft>
        <a:spcPct val="0"/>
      </a:spcAft>
      <a:defRPr sz="2400" kern="1200">
        <a:solidFill>
          <a:schemeClr val="tx1"/>
        </a:solidFill>
        <a:latin typeface="Arial" charset="0"/>
        <a:ea typeface="ヒラギノ角ゴ Pro W3"/>
        <a:cs typeface="Arial" charset="0"/>
      </a:defRPr>
    </a:lvl5pPr>
    <a:lvl6pPr marL="2286000" algn="l" defTabSz="914400" rtl="0" eaLnBrk="1" latinLnBrk="0" hangingPunct="1">
      <a:defRPr sz="2400" kern="1200">
        <a:solidFill>
          <a:schemeClr val="tx1"/>
        </a:solidFill>
        <a:latin typeface="Arial" charset="0"/>
        <a:ea typeface="ヒラギノ角ゴ Pro W3"/>
        <a:cs typeface="Arial" charset="0"/>
      </a:defRPr>
    </a:lvl6pPr>
    <a:lvl7pPr marL="2743200" algn="l" defTabSz="914400" rtl="0" eaLnBrk="1" latinLnBrk="0" hangingPunct="1">
      <a:defRPr sz="2400" kern="1200">
        <a:solidFill>
          <a:schemeClr val="tx1"/>
        </a:solidFill>
        <a:latin typeface="Arial" charset="0"/>
        <a:ea typeface="ヒラギノ角ゴ Pro W3"/>
        <a:cs typeface="Arial" charset="0"/>
      </a:defRPr>
    </a:lvl7pPr>
    <a:lvl8pPr marL="3200400" algn="l" defTabSz="914400" rtl="0" eaLnBrk="1" latinLnBrk="0" hangingPunct="1">
      <a:defRPr sz="2400" kern="1200">
        <a:solidFill>
          <a:schemeClr val="tx1"/>
        </a:solidFill>
        <a:latin typeface="Arial" charset="0"/>
        <a:ea typeface="ヒラギノ角ゴ Pro W3"/>
        <a:cs typeface="Arial" charset="0"/>
      </a:defRPr>
    </a:lvl8pPr>
    <a:lvl9pPr marL="3657600" algn="l" defTabSz="914400" rtl="0" eaLnBrk="1" latinLnBrk="0" hangingPunct="1">
      <a:defRPr sz="2400" kern="1200">
        <a:solidFill>
          <a:schemeClr val="tx1"/>
        </a:solidFill>
        <a:latin typeface="Arial" charset="0"/>
        <a:ea typeface="ヒラギノ角ゴ Pro W3"/>
        <a:cs typeface="Arial" charset="0"/>
      </a:defRPr>
    </a:lvl9pPr>
  </p:defaultTextStyle>
  <p:extLst>
    <p:ext uri="{521415D9-36F7-43E2-AB2F-B90AF26B5E84}">
      <p14:sectionLst xmlns:p14="http://schemas.microsoft.com/office/powerpoint/2010/main">
        <p14:section name="Untitled Section" id="{3540F3E4-3A56-594D-A98C-62123F4F527F}">
          <p14:sldIdLst>
            <p14:sldId id="711"/>
            <p14:sldId id="256"/>
            <p14:sldId id="257"/>
            <p14:sldId id="258"/>
            <p14:sldId id="259"/>
            <p14:sldId id="260"/>
            <p14:sldId id="261"/>
            <p14:sldId id="262"/>
            <p14:sldId id="263"/>
            <p14:sldId id="264"/>
            <p14:sldId id="265"/>
            <p14:sldId id="266"/>
            <p14:sldId id="267"/>
            <p14:sldId id="751"/>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531F"/>
    <a:srgbClr val="BF5700"/>
    <a:srgbClr val="C01338"/>
    <a:srgbClr val="C00000"/>
    <a:srgbClr val="79C82A"/>
    <a:srgbClr val="DE7E7A"/>
    <a:srgbClr val="D61C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D9D11A-84C2-4B0A-97D9-BAC9754942AE}" v="1" dt="2026-08-05T18:16:05.5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28" autoAdjust="0"/>
    <p:restoredTop sz="80508" autoAdjust="0"/>
  </p:normalViewPr>
  <p:slideViewPr>
    <p:cSldViewPr>
      <p:cViewPr varScale="1">
        <p:scale>
          <a:sx n="113" d="100"/>
          <a:sy n="113" d="100"/>
        </p:scale>
        <p:origin x="201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u, Ashin Bhooshan" userId="2e33ee39-f086-4335-b256-638b4a1cd7bc" providerId="ADAL" clId="{6D004FA2-7ED0-46CA-AA3C-6F7A60BF6F5F}"/>
    <pc:docChg chg="undo redo custSel addSld delSld modSld sldOrd modSection modShowInfo">
      <pc:chgData name="Sahu, Ashin Bhooshan" userId="2e33ee39-f086-4335-b256-638b4a1cd7bc" providerId="ADAL" clId="{6D004FA2-7ED0-46CA-AA3C-6F7A60BF6F5F}" dt="2026-08-05T18:22:41.754" v="7959" actId="2744"/>
      <pc:docMkLst>
        <pc:docMk/>
      </pc:docMkLst>
      <pc:sldChg chg="addSp delSp modSp mod modNotesTx">
        <pc:chgData name="Sahu, Ashin Bhooshan" userId="2e33ee39-f086-4335-b256-638b4a1cd7bc" providerId="ADAL" clId="{6D004FA2-7ED0-46CA-AA3C-6F7A60BF6F5F}" dt="2026-08-02T18:25:13.341" v="7923" actId="26606"/>
        <pc:sldMkLst>
          <pc:docMk/>
          <pc:sldMk cId="0" sldId="256"/>
        </pc:sldMkLst>
        <pc:spChg chg="mod">
          <ac:chgData name="Sahu, Ashin Bhooshan" userId="2e33ee39-f086-4335-b256-638b4a1cd7bc" providerId="ADAL" clId="{6D004FA2-7ED0-46CA-AA3C-6F7A60BF6F5F}" dt="2026-08-02T17:17:50.688" v="6768" actId="2711"/>
          <ac:spMkLst>
            <pc:docMk/>
            <pc:sldMk cId="0" sldId="256"/>
            <ac:spMk id="2" creationId="{00000000-0000-0000-0000-000000000000}"/>
          </ac:spMkLst>
        </pc:spChg>
        <pc:spChg chg="mod">
          <ac:chgData name="Sahu, Ashin Bhooshan" userId="2e33ee39-f086-4335-b256-638b4a1cd7bc" providerId="ADAL" clId="{6D004FA2-7ED0-46CA-AA3C-6F7A60BF6F5F}" dt="2026-08-02T17:24:54.319" v="6844" actId="1076"/>
          <ac:spMkLst>
            <pc:docMk/>
            <pc:sldMk cId="0" sldId="256"/>
            <ac:spMk id="6" creationId="{00000000-0000-0000-0000-000000000000}"/>
          </ac:spMkLst>
        </pc:spChg>
        <pc:spChg chg="mod">
          <ac:chgData name="Sahu, Ashin Bhooshan" userId="2e33ee39-f086-4335-b256-638b4a1cd7bc" providerId="ADAL" clId="{6D004FA2-7ED0-46CA-AA3C-6F7A60BF6F5F}" dt="2026-08-02T17:23:39.898" v="6835" actId="20577"/>
          <ac:spMkLst>
            <pc:docMk/>
            <pc:sldMk cId="0" sldId="256"/>
            <ac:spMk id="7" creationId="{00000000-0000-0000-0000-000000000000}"/>
          </ac:spMkLst>
        </pc:spChg>
        <pc:spChg chg="mod">
          <ac:chgData name="Sahu, Ashin Bhooshan" userId="2e33ee39-f086-4335-b256-638b4a1cd7bc" providerId="ADAL" clId="{6D004FA2-7ED0-46CA-AA3C-6F7A60BF6F5F}" dt="2026-08-02T17:24:36.916" v="6842" actId="1076"/>
          <ac:spMkLst>
            <pc:docMk/>
            <pc:sldMk cId="0" sldId="256"/>
            <ac:spMk id="8" creationId="{00000000-0000-0000-0000-000000000000}"/>
          </ac:spMkLst>
        </pc:spChg>
        <pc:spChg chg="mod">
          <ac:chgData name="Sahu, Ashin Bhooshan" userId="2e33ee39-f086-4335-b256-638b4a1cd7bc" providerId="ADAL" clId="{6D004FA2-7ED0-46CA-AA3C-6F7A60BF6F5F}" dt="2026-08-02T17:24:32.060" v="6841" actId="108"/>
          <ac:spMkLst>
            <pc:docMk/>
            <pc:sldMk cId="0" sldId="256"/>
            <ac:spMk id="9" creationId="{00000000-0000-0000-0000-000000000000}"/>
          </ac:spMkLst>
        </pc:spChg>
        <pc:spChg chg="mod">
          <ac:chgData name="Sahu, Ashin Bhooshan" userId="2e33ee39-f086-4335-b256-638b4a1cd7bc" providerId="ADAL" clId="{6D004FA2-7ED0-46CA-AA3C-6F7A60BF6F5F}" dt="2026-08-02T17:24:48.267" v="6843" actId="1076"/>
          <ac:spMkLst>
            <pc:docMk/>
            <pc:sldMk cId="0" sldId="256"/>
            <ac:spMk id="10" creationId="{00000000-0000-0000-0000-000000000000}"/>
          </ac:spMkLst>
        </pc:spChg>
        <pc:spChg chg="mod">
          <ac:chgData name="Sahu, Ashin Bhooshan" userId="2e33ee39-f086-4335-b256-638b4a1cd7bc" providerId="ADAL" clId="{6D004FA2-7ED0-46CA-AA3C-6F7A60BF6F5F}" dt="2026-08-02T17:17:50.688" v="6768" actId="2711"/>
          <ac:spMkLst>
            <pc:docMk/>
            <pc:sldMk cId="0" sldId="256"/>
            <ac:spMk id="11" creationId="{00000000-0000-0000-0000-000000000000}"/>
          </ac:spMkLst>
        </pc:spChg>
        <pc:picChg chg="add mod">
          <ac:chgData name="Sahu, Ashin Bhooshan" userId="2e33ee39-f086-4335-b256-638b4a1cd7bc" providerId="ADAL" clId="{6D004FA2-7ED0-46CA-AA3C-6F7A60BF6F5F}" dt="2026-08-02T18:25:13.341" v="7923" actId="26606"/>
          <ac:picMkLst>
            <pc:docMk/>
            <pc:sldMk cId="0" sldId="256"/>
            <ac:picMk id="13" creationId="{7E2E3F2E-5F63-10CF-3677-0E6E7FAE5CA3}"/>
          </ac:picMkLst>
        </pc:picChg>
      </pc:sldChg>
      <pc:sldChg chg="modSp mod modNotesTx">
        <pc:chgData name="Sahu, Ashin Bhooshan" userId="2e33ee39-f086-4335-b256-638b4a1cd7bc" providerId="ADAL" clId="{6D004FA2-7ED0-46CA-AA3C-6F7A60BF6F5F}" dt="2026-08-02T17:25:51.772" v="6863" actId="6549"/>
        <pc:sldMkLst>
          <pc:docMk/>
          <pc:sldMk cId="0" sldId="257"/>
        </pc:sldMkLst>
        <pc:spChg chg="mod">
          <ac:chgData name="Sahu, Ashin Bhooshan" userId="2e33ee39-f086-4335-b256-638b4a1cd7bc" providerId="ADAL" clId="{6D004FA2-7ED0-46CA-AA3C-6F7A60BF6F5F}" dt="2026-08-02T17:25:44.317" v="6862" actId="14100"/>
          <ac:spMkLst>
            <pc:docMk/>
            <pc:sldMk cId="0" sldId="257"/>
            <ac:spMk id="3"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4"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8"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11"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12"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14"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16"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17"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18" creationId="{00000000-0000-0000-0000-000000000000}"/>
          </ac:spMkLst>
        </pc:spChg>
        <pc:spChg chg="mod">
          <ac:chgData name="Sahu, Ashin Bhooshan" userId="2e33ee39-f086-4335-b256-638b4a1cd7bc" providerId="ADAL" clId="{6D004FA2-7ED0-46CA-AA3C-6F7A60BF6F5F}" dt="2026-08-02T17:18:01.494" v="6769" actId="2711"/>
          <ac:spMkLst>
            <pc:docMk/>
            <pc:sldMk cId="0" sldId="257"/>
            <ac:spMk id="19" creationId="{00000000-0000-0000-0000-000000000000}"/>
          </ac:spMkLst>
        </pc:spChg>
      </pc:sldChg>
      <pc:sldChg chg="modSp mod modNotesTx">
        <pc:chgData name="Sahu, Ashin Bhooshan" userId="2e33ee39-f086-4335-b256-638b4a1cd7bc" providerId="ADAL" clId="{6D004FA2-7ED0-46CA-AA3C-6F7A60BF6F5F}" dt="2026-08-02T17:26:50.328" v="6864" actId="6549"/>
        <pc:sldMkLst>
          <pc:docMk/>
          <pc:sldMk cId="0" sldId="258"/>
        </pc:sldMkLst>
        <pc:spChg chg="mod">
          <ac:chgData name="Sahu, Ashin Bhooshan" userId="2e33ee39-f086-4335-b256-638b4a1cd7bc" providerId="ADAL" clId="{6D004FA2-7ED0-46CA-AA3C-6F7A60BF6F5F}" dt="2026-08-02T17:18:10.355" v="6770" actId="2711"/>
          <ac:spMkLst>
            <pc:docMk/>
            <pc:sldMk cId="0" sldId="258"/>
            <ac:spMk id="2" creationId="{00000000-0000-0000-0000-000000000000}"/>
          </ac:spMkLst>
        </pc:spChg>
        <pc:spChg chg="mod">
          <ac:chgData name="Sahu, Ashin Bhooshan" userId="2e33ee39-f086-4335-b256-638b4a1cd7bc" providerId="ADAL" clId="{6D004FA2-7ED0-46CA-AA3C-6F7A60BF6F5F}" dt="2026-08-02T17:19:39.031" v="6780" actId="207"/>
          <ac:spMkLst>
            <pc:docMk/>
            <pc:sldMk cId="0" sldId="258"/>
            <ac:spMk id="3"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6"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7"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8"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9"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10"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12"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14" creationId="{00000000-0000-0000-0000-000000000000}"/>
          </ac:spMkLst>
        </pc:spChg>
        <pc:spChg chg="mod">
          <ac:chgData name="Sahu, Ashin Bhooshan" userId="2e33ee39-f086-4335-b256-638b4a1cd7bc" providerId="ADAL" clId="{6D004FA2-7ED0-46CA-AA3C-6F7A60BF6F5F}" dt="2026-08-02T17:18:10.355" v="6770" actId="2711"/>
          <ac:spMkLst>
            <pc:docMk/>
            <pc:sldMk cId="0" sldId="258"/>
            <ac:spMk id="15" creationId="{00000000-0000-0000-0000-000000000000}"/>
          </ac:spMkLst>
        </pc:spChg>
      </pc:sldChg>
      <pc:sldChg chg="modSp mod modNotesTx">
        <pc:chgData name="Sahu, Ashin Bhooshan" userId="2e33ee39-f086-4335-b256-638b4a1cd7bc" providerId="ADAL" clId="{6D004FA2-7ED0-46CA-AA3C-6F7A60BF6F5F}" dt="2026-08-02T17:31:23.415" v="7004" actId="14100"/>
        <pc:sldMkLst>
          <pc:docMk/>
          <pc:sldMk cId="0" sldId="259"/>
        </pc:sldMkLst>
        <pc:spChg chg="mod">
          <ac:chgData name="Sahu, Ashin Bhooshan" userId="2e33ee39-f086-4335-b256-638b4a1cd7bc" providerId="ADAL" clId="{6D004FA2-7ED0-46CA-AA3C-6F7A60BF6F5F}" dt="2026-08-02T17:31:13.613" v="7003" actId="2711"/>
          <ac:spMkLst>
            <pc:docMk/>
            <pc:sldMk cId="0" sldId="259"/>
            <ac:spMk id="2" creationId="{00000000-0000-0000-0000-000000000000}"/>
          </ac:spMkLst>
        </pc:spChg>
        <pc:spChg chg="mod">
          <ac:chgData name="Sahu, Ashin Bhooshan" userId="2e33ee39-f086-4335-b256-638b4a1cd7bc" providerId="ADAL" clId="{6D004FA2-7ED0-46CA-AA3C-6F7A60BF6F5F}" dt="2026-08-02T17:31:23.415" v="7004" actId="14100"/>
          <ac:spMkLst>
            <pc:docMk/>
            <pc:sldMk cId="0" sldId="259"/>
            <ac:spMk id="3" creationId="{00000000-0000-0000-0000-000000000000}"/>
          </ac:spMkLst>
        </pc:spChg>
        <pc:spChg chg="mod">
          <ac:chgData name="Sahu, Ashin Bhooshan" userId="2e33ee39-f086-4335-b256-638b4a1cd7bc" providerId="ADAL" clId="{6D004FA2-7ED0-46CA-AA3C-6F7A60BF6F5F}" dt="2026-08-02T17:31:13.613" v="7003" actId="2711"/>
          <ac:spMkLst>
            <pc:docMk/>
            <pc:sldMk cId="0" sldId="259"/>
            <ac:spMk id="4" creationId="{00000000-0000-0000-0000-000000000000}"/>
          </ac:spMkLst>
        </pc:spChg>
        <pc:spChg chg="mod">
          <ac:chgData name="Sahu, Ashin Bhooshan" userId="2e33ee39-f086-4335-b256-638b4a1cd7bc" providerId="ADAL" clId="{6D004FA2-7ED0-46CA-AA3C-6F7A60BF6F5F}" dt="2026-08-02T17:31:13.613" v="7003" actId="2711"/>
          <ac:spMkLst>
            <pc:docMk/>
            <pc:sldMk cId="0" sldId="259"/>
            <ac:spMk id="5" creationId="{00000000-0000-0000-0000-000000000000}"/>
          </ac:spMkLst>
        </pc:spChg>
        <pc:spChg chg="mod">
          <ac:chgData name="Sahu, Ashin Bhooshan" userId="2e33ee39-f086-4335-b256-638b4a1cd7bc" providerId="ADAL" clId="{6D004FA2-7ED0-46CA-AA3C-6F7A60BF6F5F}" dt="2026-08-02T17:31:13.613" v="7003" actId="2711"/>
          <ac:spMkLst>
            <pc:docMk/>
            <pc:sldMk cId="0" sldId="259"/>
            <ac:spMk id="6" creationId="{00000000-0000-0000-0000-000000000000}"/>
          </ac:spMkLst>
        </pc:spChg>
        <pc:spChg chg="mod">
          <ac:chgData name="Sahu, Ashin Bhooshan" userId="2e33ee39-f086-4335-b256-638b4a1cd7bc" providerId="ADAL" clId="{6D004FA2-7ED0-46CA-AA3C-6F7A60BF6F5F}" dt="2026-08-02T17:31:13.613" v="7003" actId="2711"/>
          <ac:spMkLst>
            <pc:docMk/>
            <pc:sldMk cId="0" sldId="259"/>
            <ac:spMk id="8" creationId="{00000000-0000-0000-0000-000000000000}"/>
          </ac:spMkLst>
        </pc:spChg>
        <pc:graphicFrameChg chg="modGraphic">
          <ac:chgData name="Sahu, Ashin Bhooshan" userId="2e33ee39-f086-4335-b256-638b4a1cd7bc" providerId="ADAL" clId="{6D004FA2-7ED0-46CA-AA3C-6F7A60BF6F5F}" dt="2026-08-02T17:27:18.326" v="6871" actId="20577"/>
          <ac:graphicFrameMkLst>
            <pc:docMk/>
            <pc:sldMk cId="0" sldId="259"/>
            <ac:graphicFrameMk id="7" creationId="{00000000-0000-0000-0000-000000000000}"/>
          </ac:graphicFrameMkLst>
        </pc:graphicFrameChg>
      </pc:sldChg>
      <pc:sldChg chg="modSp mod modNotesTx">
        <pc:chgData name="Sahu, Ashin Bhooshan" userId="2e33ee39-f086-4335-b256-638b4a1cd7bc" providerId="ADAL" clId="{6D004FA2-7ED0-46CA-AA3C-6F7A60BF6F5F}" dt="2026-08-02T18:25:13.341" v="7923" actId="26606"/>
        <pc:sldMkLst>
          <pc:docMk/>
          <pc:sldMk cId="0" sldId="260"/>
        </pc:sldMkLst>
        <pc:spChg chg="mod">
          <ac:chgData name="Sahu, Ashin Bhooshan" userId="2e33ee39-f086-4335-b256-638b4a1cd7bc" providerId="ADAL" clId="{6D004FA2-7ED0-46CA-AA3C-6F7A60BF6F5F}" dt="2026-08-02T17:18:18.470" v="6771" actId="2711"/>
          <ac:spMkLst>
            <pc:docMk/>
            <pc:sldMk cId="0" sldId="260"/>
            <ac:spMk id="2" creationId="{00000000-0000-0000-0000-000000000000}"/>
          </ac:spMkLst>
        </pc:spChg>
        <pc:spChg chg="mod">
          <ac:chgData name="Sahu, Ashin Bhooshan" userId="2e33ee39-f086-4335-b256-638b4a1cd7bc" providerId="ADAL" clId="{6D004FA2-7ED0-46CA-AA3C-6F7A60BF6F5F}" dt="2026-08-02T17:19:53.717" v="6782" actId="207"/>
          <ac:spMkLst>
            <pc:docMk/>
            <pc:sldMk cId="0" sldId="260"/>
            <ac:spMk id="3" creationId="{00000000-0000-0000-0000-000000000000}"/>
          </ac:spMkLst>
        </pc:spChg>
        <pc:spChg chg="mod">
          <ac:chgData name="Sahu, Ashin Bhooshan" userId="2e33ee39-f086-4335-b256-638b4a1cd7bc" providerId="ADAL" clId="{6D004FA2-7ED0-46CA-AA3C-6F7A60BF6F5F}" dt="2026-08-02T17:18:18.470" v="6771" actId="2711"/>
          <ac:spMkLst>
            <pc:docMk/>
            <pc:sldMk cId="0" sldId="260"/>
            <ac:spMk id="4" creationId="{00000000-0000-0000-0000-000000000000}"/>
          </ac:spMkLst>
        </pc:spChg>
        <pc:spChg chg="mod">
          <ac:chgData name="Sahu, Ashin Bhooshan" userId="2e33ee39-f086-4335-b256-638b4a1cd7bc" providerId="ADAL" clId="{6D004FA2-7ED0-46CA-AA3C-6F7A60BF6F5F}" dt="2026-08-02T17:18:18.470" v="6771" actId="2711"/>
          <ac:spMkLst>
            <pc:docMk/>
            <pc:sldMk cId="0" sldId="260"/>
            <ac:spMk id="5" creationId="{00000000-0000-0000-0000-000000000000}"/>
          </ac:spMkLst>
        </pc:spChg>
        <pc:spChg chg="mod">
          <ac:chgData name="Sahu, Ashin Bhooshan" userId="2e33ee39-f086-4335-b256-638b4a1cd7bc" providerId="ADAL" clId="{6D004FA2-7ED0-46CA-AA3C-6F7A60BF6F5F}" dt="2026-08-02T17:18:18.470" v="6771" actId="2711"/>
          <ac:spMkLst>
            <pc:docMk/>
            <pc:sldMk cId="0" sldId="260"/>
            <ac:spMk id="6" creationId="{00000000-0000-0000-0000-000000000000}"/>
          </ac:spMkLst>
        </pc:spChg>
        <pc:spChg chg="mod">
          <ac:chgData name="Sahu, Ashin Bhooshan" userId="2e33ee39-f086-4335-b256-638b4a1cd7bc" providerId="ADAL" clId="{6D004FA2-7ED0-46CA-AA3C-6F7A60BF6F5F}" dt="2026-08-02T17:32:17.755" v="7009" actId="20577"/>
          <ac:spMkLst>
            <pc:docMk/>
            <pc:sldMk cId="0" sldId="260"/>
            <ac:spMk id="7" creationId="{00000000-0000-0000-0000-000000000000}"/>
          </ac:spMkLst>
        </pc:spChg>
        <pc:spChg chg="mod">
          <ac:chgData name="Sahu, Ashin Bhooshan" userId="2e33ee39-f086-4335-b256-638b4a1cd7bc" providerId="ADAL" clId="{6D004FA2-7ED0-46CA-AA3C-6F7A60BF6F5F}" dt="2026-08-02T17:31:37.188" v="7005" actId="1076"/>
          <ac:spMkLst>
            <pc:docMk/>
            <pc:sldMk cId="0" sldId="260"/>
            <ac:spMk id="8" creationId="{00000000-0000-0000-0000-000000000000}"/>
          </ac:spMkLst>
        </pc:spChg>
        <pc:spChg chg="mod">
          <ac:chgData name="Sahu, Ashin Bhooshan" userId="2e33ee39-f086-4335-b256-638b4a1cd7bc" providerId="ADAL" clId="{6D004FA2-7ED0-46CA-AA3C-6F7A60BF6F5F}" dt="2026-08-02T17:31:37.188" v="7005" actId="1076"/>
          <ac:spMkLst>
            <pc:docMk/>
            <pc:sldMk cId="0" sldId="260"/>
            <ac:spMk id="9" creationId="{00000000-0000-0000-0000-000000000000}"/>
          </ac:spMkLst>
        </pc:spChg>
        <pc:spChg chg="mod">
          <ac:chgData name="Sahu, Ashin Bhooshan" userId="2e33ee39-f086-4335-b256-638b4a1cd7bc" providerId="ADAL" clId="{6D004FA2-7ED0-46CA-AA3C-6F7A60BF6F5F}" dt="2026-08-02T17:31:37.188" v="7005" actId="1076"/>
          <ac:spMkLst>
            <pc:docMk/>
            <pc:sldMk cId="0" sldId="260"/>
            <ac:spMk id="10" creationId="{00000000-0000-0000-0000-000000000000}"/>
          </ac:spMkLst>
        </pc:spChg>
        <pc:spChg chg="mod">
          <ac:chgData name="Sahu, Ashin Bhooshan" userId="2e33ee39-f086-4335-b256-638b4a1cd7bc" providerId="ADAL" clId="{6D004FA2-7ED0-46CA-AA3C-6F7A60BF6F5F}" dt="2026-08-02T17:31:37.188" v="7005" actId="1076"/>
          <ac:spMkLst>
            <pc:docMk/>
            <pc:sldMk cId="0" sldId="260"/>
            <ac:spMk id="11" creationId="{00000000-0000-0000-0000-000000000000}"/>
          </ac:spMkLst>
        </pc:spChg>
        <pc:spChg chg="mod">
          <ac:chgData name="Sahu, Ashin Bhooshan" userId="2e33ee39-f086-4335-b256-638b4a1cd7bc" providerId="ADAL" clId="{6D004FA2-7ED0-46CA-AA3C-6F7A60BF6F5F}" dt="2026-08-02T17:18:18.470" v="6771" actId="2711"/>
          <ac:spMkLst>
            <pc:docMk/>
            <pc:sldMk cId="0" sldId="260"/>
            <ac:spMk id="13" creationId="{00000000-0000-0000-0000-000000000000}"/>
          </ac:spMkLst>
        </pc:spChg>
        <pc:picChg chg="mod">
          <ac:chgData name="Sahu, Ashin Bhooshan" userId="2e33ee39-f086-4335-b256-638b4a1cd7bc" providerId="ADAL" clId="{6D004FA2-7ED0-46CA-AA3C-6F7A60BF6F5F}" dt="2026-08-02T18:25:13.341" v="7923" actId="26606"/>
          <ac:picMkLst>
            <pc:docMk/>
            <pc:sldMk cId="0" sldId="260"/>
            <ac:picMk id="12" creationId="{00000000-0000-0000-0000-000000000000}"/>
          </ac:picMkLst>
        </pc:picChg>
      </pc:sldChg>
      <pc:sldChg chg="addSp modSp mod modNotesTx">
        <pc:chgData name="Sahu, Ashin Bhooshan" userId="2e33ee39-f086-4335-b256-638b4a1cd7bc" providerId="ADAL" clId="{6D004FA2-7ED0-46CA-AA3C-6F7A60BF6F5F}" dt="2026-08-02T18:25:13.341" v="7923" actId="26606"/>
        <pc:sldMkLst>
          <pc:docMk/>
          <pc:sldMk cId="0" sldId="261"/>
        </pc:sldMkLst>
        <pc:spChg chg="mod">
          <ac:chgData name="Sahu, Ashin Bhooshan" userId="2e33ee39-f086-4335-b256-638b4a1cd7bc" providerId="ADAL" clId="{6D004FA2-7ED0-46CA-AA3C-6F7A60BF6F5F}" dt="2026-08-02T17:18:26.284" v="6772" actId="2711"/>
          <ac:spMkLst>
            <pc:docMk/>
            <pc:sldMk cId="0" sldId="261"/>
            <ac:spMk id="2" creationId="{00000000-0000-0000-0000-000000000000}"/>
          </ac:spMkLst>
        </pc:spChg>
        <pc:spChg chg="mod">
          <ac:chgData name="Sahu, Ashin Bhooshan" userId="2e33ee39-f086-4335-b256-638b4a1cd7bc" providerId="ADAL" clId="{6D004FA2-7ED0-46CA-AA3C-6F7A60BF6F5F}" dt="2026-08-02T17:20:00.357" v="6783" actId="207"/>
          <ac:spMkLst>
            <pc:docMk/>
            <pc:sldMk cId="0" sldId="261"/>
            <ac:spMk id="3" creationId="{00000000-0000-0000-0000-000000000000}"/>
          </ac:spMkLst>
        </pc:spChg>
        <pc:spChg chg="mod">
          <ac:chgData name="Sahu, Ashin Bhooshan" userId="2e33ee39-f086-4335-b256-638b4a1cd7bc" providerId="ADAL" clId="{6D004FA2-7ED0-46CA-AA3C-6F7A60BF6F5F}" dt="2026-08-02T17:18:26.284" v="6772" actId="2711"/>
          <ac:spMkLst>
            <pc:docMk/>
            <pc:sldMk cId="0" sldId="261"/>
            <ac:spMk id="4" creationId="{00000000-0000-0000-0000-000000000000}"/>
          </ac:spMkLst>
        </pc:spChg>
        <pc:spChg chg="mod">
          <ac:chgData name="Sahu, Ashin Bhooshan" userId="2e33ee39-f086-4335-b256-638b4a1cd7bc" providerId="ADAL" clId="{6D004FA2-7ED0-46CA-AA3C-6F7A60BF6F5F}" dt="2026-08-02T17:18:26.284" v="6772" actId="2711"/>
          <ac:spMkLst>
            <pc:docMk/>
            <pc:sldMk cId="0" sldId="261"/>
            <ac:spMk id="5" creationId="{00000000-0000-0000-0000-000000000000}"/>
          </ac:spMkLst>
        </pc:spChg>
        <pc:spChg chg="mod">
          <ac:chgData name="Sahu, Ashin Bhooshan" userId="2e33ee39-f086-4335-b256-638b4a1cd7bc" providerId="ADAL" clId="{6D004FA2-7ED0-46CA-AA3C-6F7A60BF6F5F}" dt="2026-08-02T17:18:26.284" v="6772" actId="2711"/>
          <ac:spMkLst>
            <pc:docMk/>
            <pc:sldMk cId="0" sldId="261"/>
            <ac:spMk id="6" creationId="{00000000-0000-0000-0000-000000000000}"/>
          </ac:spMkLst>
        </pc:spChg>
        <pc:spChg chg="mod">
          <ac:chgData name="Sahu, Ashin Bhooshan" userId="2e33ee39-f086-4335-b256-638b4a1cd7bc" providerId="ADAL" clId="{6D004FA2-7ED0-46CA-AA3C-6F7A60BF6F5F}" dt="2026-08-02T17:40:23.783" v="7325" actId="1076"/>
          <ac:spMkLst>
            <pc:docMk/>
            <pc:sldMk cId="0" sldId="261"/>
            <ac:spMk id="8" creationId="{00000000-0000-0000-0000-000000000000}"/>
          </ac:spMkLst>
        </pc:spChg>
        <pc:spChg chg="mod">
          <ac:chgData name="Sahu, Ashin Bhooshan" userId="2e33ee39-f086-4335-b256-638b4a1cd7bc" providerId="ADAL" clId="{6D004FA2-7ED0-46CA-AA3C-6F7A60BF6F5F}" dt="2026-08-02T17:40:27.143" v="7326" actId="14100"/>
          <ac:spMkLst>
            <pc:docMk/>
            <pc:sldMk cId="0" sldId="261"/>
            <ac:spMk id="9" creationId="{00000000-0000-0000-0000-000000000000}"/>
          </ac:spMkLst>
        </pc:spChg>
        <pc:spChg chg="mod">
          <ac:chgData name="Sahu, Ashin Bhooshan" userId="2e33ee39-f086-4335-b256-638b4a1cd7bc" providerId="ADAL" clId="{6D004FA2-7ED0-46CA-AA3C-6F7A60BF6F5F}" dt="2026-08-02T17:40:23.783" v="7325" actId="1076"/>
          <ac:spMkLst>
            <pc:docMk/>
            <pc:sldMk cId="0" sldId="261"/>
            <ac:spMk id="10" creationId="{00000000-0000-0000-0000-000000000000}"/>
          </ac:spMkLst>
        </pc:spChg>
        <pc:spChg chg="mod">
          <ac:chgData name="Sahu, Ashin Bhooshan" userId="2e33ee39-f086-4335-b256-638b4a1cd7bc" providerId="ADAL" clId="{6D004FA2-7ED0-46CA-AA3C-6F7A60BF6F5F}" dt="2026-08-02T17:40:23.783" v="7325" actId="1076"/>
          <ac:spMkLst>
            <pc:docMk/>
            <pc:sldMk cId="0" sldId="261"/>
            <ac:spMk id="11" creationId="{00000000-0000-0000-0000-000000000000}"/>
          </ac:spMkLst>
        </pc:spChg>
        <pc:spChg chg="add mod">
          <ac:chgData name="Sahu, Ashin Bhooshan" userId="2e33ee39-f086-4335-b256-638b4a1cd7bc" providerId="ADAL" clId="{6D004FA2-7ED0-46CA-AA3C-6F7A60BF6F5F}" dt="2026-08-02T17:40:23.783" v="7325" actId="1076"/>
          <ac:spMkLst>
            <pc:docMk/>
            <pc:sldMk cId="0" sldId="261"/>
            <ac:spMk id="13" creationId="{F1BBA60E-D3D9-C7AE-038E-B6394886EC64}"/>
          </ac:spMkLst>
        </pc:spChg>
        <pc:spChg chg="add mod">
          <ac:chgData name="Sahu, Ashin Bhooshan" userId="2e33ee39-f086-4335-b256-638b4a1cd7bc" providerId="ADAL" clId="{6D004FA2-7ED0-46CA-AA3C-6F7A60BF6F5F}" dt="2026-08-02T17:40:23.783" v="7325" actId="1076"/>
          <ac:spMkLst>
            <pc:docMk/>
            <pc:sldMk cId="0" sldId="261"/>
            <ac:spMk id="15" creationId="{675DEAA7-407F-7AEB-DDFC-36F1784FA4ED}"/>
          </ac:spMkLst>
        </pc:spChg>
        <pc:picChg chg="mod">
          <ac:chgData name="Sahu, Ashin Bhooshan" userId="2e33ee39-f086-4335-b256-638b4a1cd7bc" providerId="ADAL" clId="{6D004FA2-7ED0-46CA-AA3C-6F7A60BF6F5F}" dt="2026-08-02T18:25:13.341" v="7923" actId="26606"/>
          <ac:picMkLst>
            <pc:docMk/>
            <pc:sldMk cId="0" sldId="261"/>
            <ac:picMk id="7" creationId="{00000000-0000-0000-0000-000000000000}"/>
          </ac:picMkLst>
        </pc:picChg>
      </pc:sldChg>
      <pc:sldChg chg="modSp mod modNotesTx">
        <pc:chgData name="Sahu, Ashin Bhooshan" userId="2e33ee39-f086-4335-b256-638b4a1cd7bc" providerId="ADAL" clId="{6D004FA2-7ED0-46CA-AA3C-6F7A60BF6F5F}" dt="2026-08-02T18:25:13.341" v="7923" actId="26606"/>
        <pc:sldMkLst>
          <pc:docMk/>
          <pc:sldMk cId="0" sldId="262"/>
        </pc:sldMkLst>
        <pc:spChg chg="mod">
          <ac:chgData name="Sahu, Ashin Bhooshan" userId="2e33ee39-f086-4335-b256-638b4a1cd7bc" providerId="ADAL" clId="{6D004FA2-7ED0-46CA-AA3C-6F7A60BF6F5F}" dt="2026-08-02T17:46:50.626" v="7463" actId="1076"/>
          <ac:spMkLst>
            <pc:docMk/>
            <pc:sldMk cId="0" sldId="262"/>
            <ac:spMk id="2" creationId="{00000000-0000-0000-0000-000000000000}"/>
          </ac:spMkLst>
        </pc:spChg>
        <pc:spChg chg="mod">
          <ac:chgData name="Sahu, Ashin Bhooshan" userId="2e33ee39-f086-4335-b256-638b4a1cd7bc" providerId="ADAL" clId="{6D004FA2-7ED0-46CA-AA3C-6F7A60BF6F5F}" dt="2026-08-02T17:20:06.256" v="6784" actId="207"/>
          <ac:spMkLst>
            <pc:docMk/>
            <pc:sldMk cId="0" sldId="262"/>
            <ac:spMk id="3" creationId="{00000000-0000-0000-0000-000000000000}"/>
          </ac:spMkLst>
        </pc:spChg>
        <pc:spChg chg="mod">
          <ac:chgData name="Sahu, Ashin Bhooshan" userId="2e33ee39-f086-4335-b256-638b4a1cd7bc" providerId="ADAL" clId="{6D004FA2-7ED0-46CA-AA3C-6F7A60BF6F5F}" dt="2026-08-02T17:18:32.075" v="6773" actId="2711"/>
          <ac:spMkLst>
            <pc:docMk/>
            <pc:sldMk cId="0" sldId="262"/>
            <ac:spMk id="4" creationId="{00000000-0000-0000-0000-000000000000}"/>
          </ac:spMkLst>
        </pc:spChg>
        <pc:spChg chg="mod">
          <ac:chgData name="Sahu, Ashin Bhooshan" userId="2e33ee39-f086-4335-b256-638b4a1cd7bc" providerId="ADAL" clId="{6D004FA2-7ED0-46CA-AA3C-6F7A60BF6F5F}" dt="2026-08-02T17:18:32.075" v="6773" actId="2711"/>
          <ac:spMkLst>
            <pc:docMk/>
            <pc:sldMk cId="0" sldId="262"/>
            <ac:spMk id="5" creationId="{00000000-0000-0000-0000-000000000000}"/>
          </ac:spMkLst>
        </pc:spChg>
        <pc:spChg chg="mod">
          <ac:chgData name="Sahu, Ashin Bhooshan" userId="2e33ee39-f086-4335-b256-638b4a1cd7bc" providerId="ADAL" clId="{6D004FA2-7ED0-46CA-AA3C-6F7A60BF6F5F}" dt="2026-08-02T17:18:32.075" v="6773" actId="2711"/>
          <ac:spMkLst>
            <pc:docMk/>
            <pc:sldMk cId="0" sldId="262"/>
            <ac:spMk id="6" creationId="{00000000-0000-0000-0000-000000000000}"/>
          </ac:spMkLst>
        </pc:spChg>
        <pc:spChg chg="mod">
          <ac:chgData name="Sahu, Ashin Bhooshan" userId="2e33ee39-f086-4335-b256-638b4a1cd7bc" providerId="ADAL" clId="{6D004FA2-7ED0-46CA-AA3C-6F7A60BF6F5F}" dt="2026-08-02T17:46:42.629" v="7461" actId="1076"/>
          <ac:spMkLst>
            <pc:docMk/>
            <pc:sldMk cId="0" sldId="262"/>
            <ac:spMk id="8" creationId="{00000000-0000-0000-0000-000000000000}"/>
          </ac:spMkLst>
        </pc:spChg>
        <pc:spChg chg="mod">
          <ac:chgData name="Sahu, Ashin Bhooshan" userId="2e33ee39-f086-4335-b256-638b4a1cd7bc" providerId="ADAL" clId="{6D004FA2-7ED0-46CA-AA3C-6F7A60BF6F5F}" dt="2026-08-02T17:46:42.629" v="7461" actId="1076"/>
          <ac:spMkLst>
            <pc:docMk/>
            <pc:sldMk cId="0" sldId="262"/>
            <ac:spMk id="9" creationId="{00000000-0000-0000-0000-000000000000}"/>
          </ac:spMkLst>
        </pc:spChg>
        <pc:spChg chg="mod">
          <ac:chgData name="Sahu, Ashin Bhooshan" userId="2e33ee39-f086-4335-b256-638b4a1cd7bc" providerId="ADAL" clId="{6D004FA2-7ED0-46CA-AA3C-6F7A60BF6F5F}" dt="2026-08-02T17:42:57.084" v="7455" actId="1076"/>
          <ac:spMkLst>
            <pc:docMk/>
            <pc:sldMk cId="0" sldId="262"/>
            <ac:spMk id="10" creationId="{00000000-0000-0000-0000-000000000000}"/>
          </ac:spMkLst>
        </pc:spChg>
        <pc:spChg chg="mod">
          <ac:chgData name="Sahu, Ashin Bhooshan" userId="2e33ee39-f086-4335-b256-638b4a1cd7bc" providerId="ADAL" clId="{6D004FA2-7ED0-46CA-AA3C-6F7A60BF6F5F}" dt="2026-08-02T17:18:32.075" v="6773" actId="2711"/>
          <ac:spMkLst>
            <pc:docMk/>
            <pc:sldMk cId="0" sldId="262"/>
            <ac:spMk id="12" creationId="{00000000-0000-0000-0000-000000000000}"/>
          </ac:spMkLst>
        </pc:spChg>
        <pc:picChg chg="mod">
          <ac:chgData name="Sahu, Ashin Bhooshan" userId="2e33ee39-f086-4335-b256-638b4a1cd7bc" providerId="ADAL" clId="{6D004FA2-7ED0-46CA-AA3C-6F7A60BF6F5F}" dt="2026-08-02T18:25:13.341" v="7923" actId="26606"/>
          <ac:picMkLst>
            <pc:docMk/>
            <pc:sldMk cId="0" sldId="262"/>
            <ac:picMk id="11" creationId="{00000000-0000-0000-0000-000000000000}"/>
          </ac:picMkLst>
        </pc:picChg>
      </pc:sldChg>
      <pc:sldChg chg="modSp mod modNotesTx">
        <pc:chgData name="Sahu, Ashin Bhooshan" userId="2e33ee39-f086-4335-b256-638b4a1cd7bc" providerId="ADAL" clId="{6D004FA2-7ED0-46CA-AA3C-6F7A60BF6F5F}" dt="2026-08-05T13:26:53.823" v="7954" actId="20577"/>
        <pc:sldMkLst>
          <pc:docMk/>
          <pc:sldMk cId="0" sldId="263"/>
        </pc:sldMkLst>
        <pc:spChg chg="mod">
          <ac:chgData name="Sahu, Ashin Bhooshan" userId="2e33ee39-f086-4335-b256-638b4a1cd7bc" providerId="ADAL" clId="{6D004FA2-7ED0-46CA-AA3C-6F7A60BF6F5F}" dt="2026-08-02T17:18:37.220" v="6774" actId="2711"/>
          <ac:spMkLst>
            <pc:docMk/>
            <pc:sldMk cId="0" sldId="263"/>
            <ac:spMk id="2" creationId="{00000000-0000-0000-0000-000000000000}"/>
          </ac:spMkLst>
        </pc:spChg>
        <pc:spChg chg="mod">
          <ac:chgData name="Sahu, Ashin Bhooshan" userId="2e33ee39-f086-4335-b256-638b4a1cd7bc" providerId="ADAL" clId="{6D004FA2-7ED0-46CA-AA3C-6F7A60BF6F5F}" dt="2026-08-02T17:20:12.781" v="6785" actId="207"/>
          <ac:spMkLst>
            <pc:docMk/>
            <pc:sldMk cId="0" sldId="263"/>
            <ac:spMk id="3" creationId="{00000000-0000-0000-0000-000000000000}"/>
          </ac:spMkLst>
        </pc:spChg>
        <pc:spChg chg="mod">
          <ac:chgData name="Sahu, Ashin Bhooshan" userId="2e33ee39-f086-4335-b256-638b4a1cd7bc" providerId="ADAL" clId="{6D004FA2-7ED0-46CA-AA3C-6F7A60BF6F5F}" dt="2026-08-02T17:18:37.220" v="6774" actId="2711"/>
          <ac:spMkLst>
            <pc:docMk/>
            <pc:sldMk cId="0" sldId="263"/>
            <ac:spMk id="4" creationId="{00000000-0000-0000-0000-000000000000}"/>
          </ac:spMkLst>
        </pc:spChg>
        <pc:spChg chg="mod">
          <ac:chgData name="Sahu, Ashin Bhooshan" userId="2e33ee39-f086-4335-b256-638b4a1cd7bc" providerId="ADAL" clId="{6D004FA2-7ED0-46CA-AA3C-6F7A60BF6F5F}" dt="2026-08-02T17:18:37.220" v="6774" actId="2711"/>
          <ac:spMkLst>
            <pc:docMk/>
            <pc:sldMk cId="0" sldId="263"/>
            <ac:spMk id="5" creationId="{00000000-0000-0000-0000-000000000000}"/>
          </ac:spMkLst>
        </pc:spChg>
        <pc:spChg chg="mod">
          <ac:chgData name="Sahu, Ashin Bhooshan" userId="2e33ee39-f086-4335-b256-638b4a1cd7bc" providerId="ADAL" clId="{6D004FA2-7ED0-46CA-AA3C-6F7A60BF6F5F}" dt="2026-08-02T17:18:37.220" v="6774" actId="2711"/>
          <ac:spMkLst>
            <pc:docMk/>
            <pc:sldMk cId="0" sldId="263"/>
            <ac:spMk id="6" creationId="{00000000-0000-0000-0000-000000000000}"/>
          </ac:spMkLst>
        </pc:spChg>
        <pc:spChg chg="mod">
          <ac:chgData name="Sahu, Ashin Bhooshan" userId="2e33ee39-f086-4335-b256-638b4a1cd7bc" providerId="ADAL" clId="{6D004FA2-7ED0-46CA-AA3C-6F7A60BF6F5F}" dt="2026-08-02T17:18:37.220" v="6774" actId="2711"/>
          <ac:spMkLst>
            <pc:docMk/>
            <pc:sldMk cId="0" sldId="263"/>
            <ac:spMk id="10" creationId="{00000000-0000-0000-0000-000000000000}"/>
          </ac:spMkLst>
        </pc:spChg>
        <pc:spChg chg="mod">
          <ac:chgData name="Sahu, Ashin Bhooshan" userId="2e33ee39-f086-4335-b256-638b4a1cd7bc" providerId="ADAL" clId="{6D004FA2-7ED0-46CA-AA3C-6F7A60BF6F5F}" dt="2026-08-02T17:47:32.895" v="7469" actId="1076"/>
          <ac:spMkLst>
            <pc:docMk/>
            <pc:sldMk cId="0" sldId="263"/>
            <ac:spMk id="11" creationId="{00000000-0000-0000-0000-000000000000}"/>
          </ac:spMkLst>
        </pc:spChg>
        <pc:graphicFrameChg chg="mod">
          <ac:chgData name="Sahu, Ashin Bhooshan" userId="2e33ee39-f086-4335-b256-638b4a1cd7bc" providerId="ADAL" clId="{6D004FA2-7ED0-46CA-AA3C-6F7A60BF6F5F}" dt="2026-08-02T17:47:40.098" v="7472" actId="1076"/>
          <ac:graphicFrameMkLst>
            <pc:docMk/>
            <pc:sldMk cId="0" sldId="263"/>
            <ac:graphicFrameMk id="9" creationId="{00000000-0000-0000-0000-000000000000}"/>
          </ac:graphicFrameMkLst>
        </pc:graphicFrameChg>
        <pc:picChg chg="mod">
          <ac:chgData name="Sahu, Ashin Bhooshan" userId="2e33ee39-f086-4335-b256-638b4a1cd7bc" providerId="ADAL" clId="{6D004FA2-7ED0-46CA-AA3C-6F7A60BF6F5F}" dt="2026-08-02T17:47:34.255" v="7470" actId="1076"/>
          <ac:picMkLst>
            <pc:docMk/>
            <pc:sldMk cId="0" sldId="263"/>
            <ac:picMk id="7" creationId="{00000000-0000-0000-0000-000000000000}"/>
          </ac:picMkLst>
        </pc:picChg>
        <pc:picChg chg="mod">
          <ac:chgData name="Sahu, Ashin Bhooshan" userId="2e33ee39-f086-4335-b256-638b4a1cd7bc" providerId="ADAL" clId="{6D004FA2-7ED0-46CA-AA3C-6F7A60BF6F5F}" dt="2026-08-02T17:47:36.482" v="7471" actId="1076"/>
          <ac:picMkLst>
            <pc:docMk/>
            <pc:sldMk cId="0" sldId="263"/>
            <ac:picMk id="8" creationId="{00000000-0000-0000-0000-000000000000}"/>
          </ac:picMkLst>
        </pc:picChg>
      </pc:sldChg>
      <pc:sldChg chg="addSp delSp modSp mod modNotesTx">
        <pc:chgData name="Sahu, Ashin Bhooshan" userId="2e33ee39-f086-4335-b256-638b4a1cd7bc" providerId="ADAL" clId="{6D004FA2-7ED0-46CA-AA3C-6F7A60BF6F5F}" dt="2026-08-05T13:28:37.704" v="7955" actId="6549"/>
        <pc:sldMkLst>
          <pc:docMk/>
          <pc:sldMk cId="0" sldId="264"/>
        </pc:sldMkLst>
        <pc:spChg chg="mod">
          <ac:chgData name="Sahu, Ashin Bhooshan" userId="2e33ee39-f086-4335-b256-638b4a1cd7bc" providerId="ADAL" clId="{6D004FA2-7ED0-46CA-AA3C-6F7A60BF6F5F}" dt="2026-08-02T17:18:44.002" v="6775" actId="2711"/>
          <ac:spMkLst>
            <pc:docMk/>
            <pc:sldMk cId="0" sldId="264"/>
            <ac:spMk id="2" creationId="{00000000-0000-0000-0000-000000000000}"/>
          </ac:spMkLst>
        </pc:spChg>
        <pc:spChg chg="mod">
          <ac:chgData name="Sahu, Ashin Bhooshan" userId="2e33ee39-f086-4335-b256-638b4a1cd7bc" providerId="ADAL" clId="{6D004FA2-7ED0-46CA-AA3C-6F7A60BF6F5F}" dt="2026-08-02T17:51:55.101" v="7479" actId="14100"/>
          <ac:spMkLst>
            <pc:docMk/>
            <pc:sldMk cId="0" sldId="264"/>
            <ac:spMk id="3" creationId="{00000000-0000-0000-0000-000000000000}"/>
          </ac:spMkLst>
        </pc:spChg>
        <pc:spChg chg="mod">
          <ac:chgData name="Sahu, Ashin Bhooshan" userId="2e33ee39-f086-4335-b256-638b4a1cd7bc" providerId="ADAL" clId="{6D004FA2-7ED0-46CA-AA3C-6F7A60BF6F5F}" dt="2026-08-02T17:18:44.002" v="6775" actId="2711"/>
          <ac:spMkLst>
            <pc:docMk/>
            <pc:sldMk cId="0" sldId="264"/>
            <ac:spMk id="4" creationId="{00000000-0000-0000-0000-000000000000}"/>
          </ac:spMkLst>
        </pc:spChg>
        <pc:spChg chg="mod">
          <ac:chgData name="Sahu, Ashin Bhooshan" userId="2e33ee39-f086-4335-b256-638b4a1cd7bc" providerId="ADAL" clId="{6D004FA2-7ED0-46CA-AA3C-6F7A60BF6F5F}" dt="2026-08-02T17:18:44.002" v="6775" actId="2711"/>
          <ac:spMkLst>
            <pc:docMk/>
            <pc:sldMk cId="0" sldId="264"/>
            <ac:spMk id="5" creationId="{00000000-0000-0000-0000-000000000000}"/>
          </ac:spMkLst>
        </pc:spChg>
        <pc:spChg chg="mod">
          <ac:chgData name="Sahu, Ashin Bhooshan" userId="2e33ee39-f086-4335-b256-638b4a1cd7bc" providerId="ADAL" clId="{6D004FA2-7ED0-46CA-AA3C-6F7A60BF6F5F}" dt="2026-08-02T17:18:44.002" v="6775" actId="2711"/>
          <ac:spMkLst>
            <pc:docMk/>
            <pc:sldMk cId="0" sldId="264"/>
            <ac:spMk id="6" creationId="{00000000-0000-0000-0000-000000000000}"/>
          </ac:spMkLst>
        </pc:spChg>
        <pc:spChg chg="mod">
          <ac:chgData name="Sahu, Ashin Bhooshan" userId="2e33ee39-f086-4335-b256-638b4a1cd7bc" providerId="ADAL" clId="{6D004FA2-7ED0-46CA-AA3C-6F7A60BF6F5F}" dt="2026-08-02T17:18:44.002" v="6775" actId="2711"/>
          <ac:spMkLst>
            <pc:docMk/>
            <pc:sldMk cId="0" sldId="264"/>
            <ac:spMk id="8" creationId="{00000000-0000-0000-0000-000000000000}"/>
          </ac:spMkLst>
        </pc:spChg>
        <pc:spChg chg="mod">
          <ac:chgData name="Sahu, Ashin Bhooshan" userId="2e33ee39-f086-4335-b256-638b4a1cd7bc" providerId="ADAL" clId="{6D004FA2-7ED0-46CA-AA3C-6F7A60BF6F5F}" dt="2026-08-02T17:18:44.002" v="6775" actId="2711"/>
          <ac:spMkLst>
            <pc:docMk/>
            <pc:sldMk cId="0" sldId="264"/>
            <ac:spMk id="9" creationId="{00000000-0000-0000-0000-000000000000}"/>
          </ac:spMkLst>
        </pc:spChg>
        <pc:spChg chg="mod">
          <ac:chgData name="Sahu, Ashin Bhooshan" userId="2e33ee39-f086-4335-b256-638b4a1cd7bc" providerId="ADAL" clId="{6D004FA2-7ED0-46CA-AA3C-6F7A60BF6F5F}" dt="2026-08-02T17:18:44.002" v="6775" actId="2711"/>
          <ac:spMkLst>
            <pc:docMk/>
            <pc:sldMk cId="0" sldId="264"/>
            <ac:spMk id="10" creationId="{00000000-0000-0000-0000-000000000000}"/>
          </ac:spMkLst>
        </pc:spChg>
        <pc:spChg chg="mod">
          <ac:chgData name="Sahu, Ashin Bhooshan" userId="2e33ee39-f086-4335-b256-638b4a1cd7bc" providerId="ADAL" clId="{6D004FA2-7ED0-46CA-AA3C-6F7A60BF6F5F}" dt="2026-08-02T17:18:44.002" v="6775" actId="2711"/>
          <ac:spMkLst>
            <pc:docMk/>
            <pc:sldMk cId="0" sldId="264"/>
            <ac:spMk id="11" creationId="{00000000-0000-0000-0000-000000000000}"/>
          </ac:spMkLst>
        </pc:spChg>
        <pc:spChg chg="mod">
          <ac:chgData name="Sahu, Ashin Bhooshan" userId="2e33ee39-f086-4335-b256-638b4a1cd7bc" providerId="ADAL" clId="{6D004FA2-7ED0-46CA-AA3C-6F7A60BF6F5F}" dt="2026-08-02T18:01:49.707" v="7558" actId="20577"/>
          <ac:spMkLst>
            <pc:docMk/>
            <pc:sldMk cId="0" sldId="264"/>
            <ac:spMk id="12" creationId="{00000000-0000-0000-0000-000000000000}"/>
          </ac:spMkLst>
        </pc:spChg>
        <pc:spChg chg="add mod">
          <ac:chgData name="Sahu, Ashin Bhooshan" userId="2e33ee39-f086-4335-b256-638b4a1cd7bc" providerId="ADAL" clId="{6D004FA2-7ED0-46CA-AA3C-6F7A60BF6F5F}" dt="2026-08-02T18:00:14.611" v="7536" actId="1076"/>
          <ac:spMkLst>
            <pc:docMk/>
            <pc:sldMk cId="0" sldId="264"/>
            <ac:spMk id="17" creationId="{CFD854B3-67E2-2FC1-69F8-2B43782CDD03}"/>
          </ac:spMkLst>
        </pc:spChg>
        <pc:picChg chg="add mod">
          <ac:chgData name="Sahu, Ashin Bhooshan" userId="2e33ee39-f086-4335-b256-638b4a1cd7bc" providerId="ADAL" clId="{6D004FA2-7ED0-46CA-AA3C-6F7A60BF6F5F}" dt="2026-08-02T18:25:13.341" v="7923" actId="26606"/>
          <ac:picMkLst>
            <pc:docMk/>
            <pc:sldMk cId="0" sldId="264"/>
            <ac:picMk id="16" creationId="{DA512B09-2AA8-4034-3C5F-69116D0D53B9}"/>
          </ac:picMkLst>
        </pc:picChg>
      </pc:sldChg>
      <pc:sldChg chg="modSp mod modNotesTx">
        <pc:chgData name="Sahu, Ashin Bhooshan" userId="2e33ee39-f086-4335-b256-638b4a1cd7bc" providerId="ADAL" clId="{6D004FA2-7ED0-46CA-AA3C-6F7A60BF6F5F}" dt="2026-08-02T18:08:01.022" v="7653" actId="20577"/>
        <pc:sldMkLst>
          <pc:docMk/>
          <pc:sldMk cId="0" sldId="265"/>
        </pc:sldMkLst>
        <pc:spChg chg="mod">
          <ac:chgData name="Sahu, Ashin Bhooshan" userId="2e33ee39-f086-4335-b256-638b4a1cd7bc" providerId="ADAL" clId="{6D004FA2-7ED0-46CA-AA3C-6F7A60BF6F5F}" dt="2026-08-02T17:18:50.105" v="6776" actId="2711"/>
          <ac:spMkLst>
            <pc:docMk/>
            <pc:sldMk cId="0" sldId="265"/>
            <ac:spMk id="2" creationId="{00000000-0000-0000-0000-000000000000}"/>
          </ac:spMkLst>
        </pc:spChg>
        <pc:spChg chg="mod">
          <ac:chgData name="Sahu, Ashin Bhooshan" userId="2e33ee39-f086-4335-b256-638b4a1cd7bc" providerId="ADAL" clId="{6D004FA2-7ED0-46CA-AA3C-6F7A60BF6F5F}" dt="2026-08-02T17:20:24.209" v="6787" actId="207"/>
          <ac:spMkLst>
            <pc:docMk/>
            <pc:sldMk cId="0" sldId="265"/>
            <ac:spMk id="3" creationId="{00000000-0000-0000-0000-000000000000}"/>
          </ac:spMkLst>
        </pc:spChg>
        <pc:spChg chg="mod">
          <ac:chgData name="Sahu, Ashin Bhooshan" userId="2e33ee39-f086-4335-b256-638b4a1cd7bc" providerId="ADAL" clId="{6D004FA2-7ED0-46CA-AA3C-6F7A60BF6F5F}" dt="2026-08-02T18:05:45.061" v="7566" actId="20577"/>
          <ac:spMkLst>
            <pc:docMk/>
            <pc:sldMk cId="0" sldId="265"/>
            <ac:spMk id="4" creationId="{00000000-0000-0000-0000-000000000000}"/>
          </ac:spMkLst>
        </pc:spChg>
        <pc:spChg chg="mod">
          <ac:chgData name="Sahu, Ashin Bhooshan" userId="2e33ee39-f086-4335-b256-638b4a1cd7bc" providerId="ADAL" clId="{6D004FA2-7ED0-46CA-AA3C-6F7A60BF6F5F}" dt="2026-08-02T17:18:50.105" v="6776" actId="2711"/>
          <ac:spMkLst>
            <pc:docMk/>
            <pc:sldMk cId="0" sldId="265"/>
            <ac:spMk id="5" creationId="{00000000-0000-0000-0000-000000000000}"/>
          </ac:spMkLst>
        </pc:spChg>
        <pc:spChg chg="mod">
          <ac:chgData name="Sahu, Ashin Bhooshan" userId="2e33ee39-f086-4335-b256-638b4a1cd7bc" providerId="ADAL" clId="{6D004FA2-7ED0-46CA-AA3C-6F7A60BF6F5F}" dt="2026-08-02T17:18:50.105" v="6776" actId="2711"/>
          <ac:spMkLst>
            <pc:docMk/>
            <pc:sldMk cId="0" sldId="265"/>
            <ac:spMk id="6" creationId="{00000000-0000-0000-0000-000000000000}"/>
          </ac:spMkLst>
        </pc:spChg>
        <pc:spChg chg="mod">
          <ac:chgData name="Sahu, Ashin Bhooshan" userId="2e33ee39-f086-4335-b256-638b4a1cd7bc" providerId="ADAL" clId="{6D004FA2-7ED0-46CA-AA3C-6F7A60BF6F5F}" dt="2026-08-02T17:18:50.105" v="6776" actId="2711"/>
          <ac:spMkLst>
            <pc:docMk/>
            <pc:sldMk cId="0" sldId="265"/>
            <ac:spMk id="8" creationId="{00000000-0000-0000-0000-000000000000}"/>
          </ac:spMkLst>
        </pc:spChg>
        <pc:spChg chg="mod">
          <ac:chgData name="Sahu, Ashin Bhooshan" userId="2e33ee39-f086-4335-b256-638b4a1cd7bc" providerId="ADAL" clId="{6D004FA2-7ED0-46CA-AA3C-6F7A60BF6F5F}" dt="2026-08-02T17:18:50.105" v="6776" actId="2711"/>
          <ac:spMkLst>
            <pc:docMk/>
            <pc:sldMk cId="0" sldId="265"/>
            <ac:spMk id="9" creationId="{00000000-0000-0000-0000-000000000000}"/>
          </ac:spMkLst>
        </pc:spChg>
        <pc:spChg chg="mod">
          <ac:chgData name="Sahu, Ashin Bhooshan" userId="2e33ee39-f086-4335-b256-638b4a1cd7bc" providerId="ADAL" clId="{6D004FA2-7ED0-46CA-AA3C-6F7A60BF6F5F}" dt="2026-08-02T17:18:50.105" v="6776" actId="2711"/>
          <ac:spMkLst>
            <pc:docMk/>
            <pc:sldMk cId="0" sldId="265"/>
            <ac:spMk id="10" creationId="{00000000-0000-0000-0000-000000000000}"/>
          </ac:spMkLst>
        </pc:spChg>
        <pc:spChg chg="mod">
          <ac:chgData name="Sahu, Ashin Bhooshan" userId="2e33ee39-f086-4335-b256-638b4a1cd7bc" providerId="ADAL" clId="{6D004FA2-7ED0-46CA-AA3C-6F7A60BF6F5F}" dt="2026-08-02T17:18:50.105" v="6776" actId="2711"/>
          <ac:spMkLst>
            <pc:docMk/>
            <pc:sldMk cId="0" sldId="265"/>
            <ac:spMk id="11" creationId="{00000000-0000-0000-0000-000000000000}"/>
          </ac:spMkLst>
        </pc:spChg>
        <pc:spChg chg="mod">
          <ac:chgData name="Sahu, Ashin Bhooshan" userId="2e33ee39-f086-4335-b256-638b4a1cd7bc" providerId="ADAL" clId="{6D004FA2-7ED0-46CA-AA3C-6F7A60BF6F5F}" dt="2026-08-02T17:18:50.105" v="6776" actId="2711"/>
          <ac:spMkLst>
            <pc:docMk/>
            <pc:sldMk cId="0" sldId="265"/>
            <ac:spMk id="12" creationId="{00000000-0000-0000-0000-000000000000}"/>
          </ac:spMkLst>
        </pc:spChg>
        <pc:spChg chg="mod">
          <ac:chgData name="Sahu, Ashin Bhooshan" userId="2e33ee39-f086-4335-b256-638b4a1cd7bc" providerId="ADAL" clId="{6D004FA2-7ED0-46CA-AA3C-6F7A60BF6F5F}" dt="2026-08-02T18:02:05.179" v="7559" actId="1076"/>
          <ac:spMkLst>
            <pc:docMk/>
            <pc:sldMk cId="0" sldId="265"/>
            <ac:spMk id="13" creationId="{00000000-0000-0000-0000-000000000000}"/>
          </ac:spMkLst>
        </pc:spChg>
      </pc:sldChg>
      <pc:sldChg chg="addSp modSp mod modNotesTx">
        <pc:chgData name="Sahu, Ashin Bhooshan" userId="2e33ee39-f086-4335-b256-638b4a1cd7bc" providerId="ADAL" clId="{6D004FA2-7ED0-46CA-AA3C-6F7A60BF6F5F}" dt="2026-08-02T18:16:27.687" v="7720" actId="14100"/>
        <pc:sldMkLst>
          <pc:docMk/>
          <pc:sldMk cId="0" sldId="266"/>
        </pc:sldMkLst>
        <pc:spChg chg="mod">
          <ac:chgData name="Sahu, Ashin Bhooshan" userId="2e33ee39-f086-4335-b256-638b4a1cd7bc" providerId="ADAL" clId="{6D004FA2-7ED0-46CA-AA3C-6F7A60BF6F5F}" dt="2026-08-02T17:18:54.531" v="6777" actId="2711"/>
          <ac:spMkLst>
            <pc:docMk/>
            <pc:sldMk cId="0" sldId="266"/>
            <ac:spMk id="2" creationId="{00000000-0000-0000-0000-000000000000}"/>
          </ac:spMkLst>
        </pc:spChg>
        <pc:spChg chg="mod">
          <ac:chgData name="Sahu, Ashin Bhooshan" userId="2e33ee39-f086-4335-b256-638b4a1cd7bc" providerId="ADAL" clId="{6D004FA2-7ED0-46CA-AA3C-6F7A60BF6F5F}" dt="2026-08-02T18:16:27.687" v="7720" actId="14100"/>
          <ac:spMkLst>
            <pc:docMk/>
            <pc:sldMk cId="0" sldId="266"/>
            <ac:spMk id="3" creationId="{00000000-0000-0000-0000-000000000000}"/>
          </ac:spMkLst>
        </pc:spChg>
        <pc:spChg chg="mod">
          <ac:chgData name="Sahu, Ashin Bhooshan" userId="2e33ee39-f086-4335-b256-638b4a1cd7bc" providerId="ADAL" clId="{6D004FA2-7ED0-46CA-AA3C-6F7A60BF6F5F}" dt="2026-08-02T17:18:54.531" v="6777" actId="2711"/>
          <ac:spMkLst>
            <pc:docMk/>
            <pc:sldMk cId="0" sldId="266"/>
            <ac:spMk id="4" creationId="{00000000-0000-0000-0000-000000000000}"/>
          </ac:spMkLst>
        </pc:spChg>
        <pc:spChg chg="mod">
          <ac:chgData name="Sahu, Ashin Bhooshan" userId="2e33ee39-f086-4335-b256-638b4a1cd7bc" providerId="ADAL" clId="{6D004FA2-7ED0-46CA-AA3C-6F7A60BF6F5F}" dt="2026-08-02T17:18:54.531" v="6777" actId="2711"/>
          <ac:spMkLst>
            <pc:docMk/>
            <pc:sldMk cId="0" sldId="266"/>
            <ac:spMk id="5" creationId="{00000000-0000-0000-0000-000000000000}"/>
          </ac:spMkLst>
        </pc:spChg>
        <pc:spChg chg="mod">
          <ac:chgData name="Sahu, Ashin Bhooshan" userId="2e33ee39-f086-4335-b256-638b4a1cd7bc" providerId="ADAL" clId="{6D004FA2-7ED0-46CA-AA3C-6F7A60BF6F5F}" dt="2026-08-02T18:09:15.877" v="7662" actId="20577"/>
          <ac:spMkLst>
            <pc:docMk/>
            <pc:sldMk cId="0" sldId="266"/>
            <ac:spMk id="6" creationId="{00000000-0000-0000-0000-000000000000}"/>
          </ac:spMkLst>
        </pc:spChg>
        <pc:spChg chg="mod">
          <ac:chgData name="Sahu, Ashin Bhooshan" userId="2e33ee39-f086-4335-b256-638b4a1cd7bc" providerId="ADAL" clId="{6D004FA2-7ED0-46CA-AA3C-6F7A60BF6F5F}" dt="2026-08-02T18:14:06.343" v="7714" actId="20577"/>
          <ac:spMkLst>
            <pc:docMk/>
            <pc:sldMk cId="0" sldId="266"/>
            <ac:spMk id="7" creationId="{00000000-0000-0000-0000-000000000000}"/>
          </ac:spMkLst>
        </pc:spChg>
        <pc:spChg chg="mod">
          <ac:chgData name="Sahu, Ashin Bhooshan" userId="2e33ee39-f086-4335-b256-638b4a1cd7bc" providerId="ADAL" clId="{6D004FA2-7ED0-46CA-AA3C-6F7A60BF6F5F}" dt="2026-08-02T17:18:54.531" v="6777" actId="2711"/>
          <ac:spMkLst>
            <pc:docMk/>
            <pc:sldMk cId="0" sldId="266"/>
            <ac:spMk id="8" creationId="{00000000-0000-0000-0000-000000000000}"/>
          </ac:spMkLst>
        </pc:spChg>
        <pc:spChg chg="mod">
          <ac:chgData name="Sahu, Ashin Bhooshan" userId="2e33ee39-f086-4335-b256-638b4a1cd7bc" providerId="ADAL" clId="{6D004FA2-7ED0-46CA-AA3C-6F7A60BF6F5F}" dt="2026-08-02T18:14:59.429" v="7719" actId="313"/>
          <ac:spMkLst>
            <pc:docMk/>
            <pc:sldMk cId="0" sldId="266"/>
            <ac:spMk id="9" creationId="{00000000-0000-0000-0000-000000000000}"/>
          </ac:spMkLst>
        </pc:spChg>
      </pc:sldChg>
      <pc:sldChg chg="modSp mod modNotesTx">
        <pc:chgData name="Sahu, Ashin Bhooshan" userId="2e33ee39-f086-4335-b256-638b4a1cd7bc" providerId="ADAL" clId="{6D004FA2-7ED0-46CA-AA3C-6F7A60BF6F5F}" dt="2026-08-02T18:26:21.862" v="7952" actId="313"/>
        <pc:sldMkLst>
          <pc:docMk/>
          <pc:sldMk cId="0" sldId="267"/>
        </pc:sldMkLst>
        <pc:spChg chg="mod">
          <ac:chgData name="Sahu, Ashin Bhooshan" userId="2e33ee39-f086-4335-b256-638b4a1cd7bc" providerId="ADAL" clId="{6D004FA2-7ED0-46CA-AA3C-6F7A60BF6F5F}" dt="2026-08-02T17:19:00.996" v="6778" actId="2711"/>
          <ac:spMkLst>
            <pc:docMk/>
            <pc:sldMk cId="0" sldId="267"/>
            <ac:spMk id="2" creationId="{00000000-0000-0000-0000-000000000000}"/>
          </ac:spMkLst>
        </pc:spChg>
        <pc:spChg chg="mod">
          <ac:chgData name="Sahu, Ashin Bhooshan" userId="2e33ee39-f086-4335-b256-638b4a1cd7bc" providerId="ADAL" clId="{6D004FA2-7ED0-46CA-AA3C-6F7A60BF6F5F}" dt="2026-08-02T18:17:04.995" v="7721" actId="14100"/>
          <ac:spMkLst>
            <pc:docMk/>
            <pc:sldMk cId="0" sldId="267"/>
            <ac:spMk id="3" creationId="{00000000-0000-0000-0000-000000000000}"/>
          </ac:spMkLst>
        </pc:spChg>
        <pc:spChg chg="mod">
          <ac:chgData name="Sahu, Ashin Bhooshan" userId="2e33ee39-f086-4335-b256-638b4a1cd7bc" providerId="ADAL" clId="{6D004FA2-7ED0-46CA-AA3C-6F7A60BF6F5F}" dt="2026-08-02T17:19:00.996" v="6778" actId="2711"/>
          <ac:spMkLst>
            <pc:docMk/>
            <pc:sldMk cId="0" sldId="267"/>
            <ac:spMk id="4" creationId="{00000000-0000-0000-0000-000000000000}"/>
          </ac:spMkLst>
        </pc:spChg>
        <pc:spChg chg="mod">
          <ac:chgData name="Sahu, Ashin Bhooshan" userId="2e33ee39-f086-4335-b256-638b4a1cd7bc" providerId="ADAL" clId="{6D004FA2-7ED0-46CA-AA3C-6F7A60BF6F5F}" dt="2026-08-02T17:19:00.996" v="6778" actId="2711"/>
          <ac:spMkLst>
            <pc:docMk/>
            <pc:sldMk cId="0" sldId="267"/>
            <ac:spMk id="5" creationId="{00000000-0000-0000-0000-000000000000}"/>
          </ac:spMkLst>
        </pc:spChg>
        <pc:spChg chg="mod">
          <ac:chgData name="Sahu, Ashin Bhooshan" userId="2e33ee39-f086-4335-b256-638b4a1cd7bc" providerId="ADAL" clId="{6D004FA2-7ED0-46CA-AA3C-6F7A60BF6F5F}" dt="2026-08-02T17:19:00.996" v="6778" actId="2711"/>
          <ac:spMkLst>
            <pc:docMk/>
            <pc:sldMk cId="0" sldId="267"/>
            <ac:spMk id="6" creationId="{00000000-0000-0000-0000-000000000000}"/>
          </ac:spMkLst>
        </pc:spChg>
        <pc:spChg chg="mod">
          <ac:chgData name="Sahu, Ashin Bhooshan" userId="2e33ee39-f086-4335-b256-638b4a1cd7bc" providerId="ADAL" clId="{6D004FA2-7ED0-46CA-AA3C-6F7A60BF6F5F}" dt="2026-08-02T17:19:00.996" v="6778" actId="2711"/>
          <ac:spMkLst>
            <pc:docMk/>
            <pc:sldMk cId="0" sldId="267"/>
            <ac:spMk id="7" creationId="{00000000-0000-0000-0000-000000000000}"/>
          </ac:spMkLst>
        </pc:spChg>
        <pc:spChg chg="mod">
          <ac:chgData name="Sahu, Ashin Bhooshan" userId="2e33ee39-f086-4335-b256-638b4a1cd7bc" providerId="ADAL" clId="{6D004FA2-7ED0-46CA-AA3C-6F7A60BF6F5F}" dt="2026-08-02T17:19:00.996" v="6778" actId="2711"/>
          <ac:spMkLst>
            <pc:docMk/>
            <pc:sldMk cId="0" sldId="267"/>
            <ac:spMk id="8" creationId="{00000000-0000-0000-0000-000000000000}"/>
          </ac:spMkLst>
        </pc:spChg>
        <pc:spChg chg="mod">
          <ac:chgData name="Sahu, Ashin Bhooshan" userId="2e33ee39-f086-4335-b256-638b4a1cd7bc" providerId="ADAL" clId="{6D004FA2-7ED0-46CA-AA3C-6F7A60BF6F5F}" dt="2026-08-02T17:19:00.996" v="6778" actId="2711"/>
          <ac:spMkLst>
            <pc:docMk/>
            <pc:sldMk cId="0" sldId="267"/>
            <ac:spMk id="9" creationId="{00000000-0000-0000-0000-000000000000}"/>
          </ac:spMkLst>
        </pc:spChg>
        <pc:spChg chg="mod">
          <ac:chgData name="Sahu, Ashin Bhooshan" userId="2e33ee39-f086-4335-b256-638b4a1cd7bc" providerId="ADAL" clId="{6D004FA2-7ED0-46CA-AA3C-6F7A60BF6F5F}" dt="2026-08-02T18:26:21.862" v="7952" actId="313"/>
          <ac:spMkLst>
            <pc:docMk/>
            <pc:sldMk cId="0" sldId="267"/>
            <ac:spMk id="10" creationId="{00000000-0000-0000-0000-000000000000}"/>
          </ac:spMkLst>
        </pc:spChg>
        <pc:spChg chg="mod">
          <ac:chgData name="Sahu, Ashin Bhooshan" userId="2e33ee39-f086-4335-b256-638b4a1cd7bc" providerId="ADAL" clId="{6D004FA2-7ED0-46CA-AA3C-6F7A60BF6F5F}" dt="2026-08-02T17:19:00.996" v="6778" actId="2711"/>
          <ac:spMkLst>
            <pc:docMk/>
            <pc:sldMk cId="0" sldId="267"/>
            <ac:spMk id="11" creationId="{00000000-0000-0000-0000-000000000000}"/>
          </ac:spMkLst>
        </pc:spChg>
      </pc:sldChg>
      <pc:sldChg chg="addSp delSp modSp add del mod modTransition setBg">
        <pc:chgData name="Sahu, Ashin Bhooshan" userId="2e33ee39-f086-4335-b256-638b4a1cd7bc" providerId="ADAL" clId="{6D004FA2-7ED0-46CA-AA3C-6F7A60BF6F5F}" dt="2026-08-05T18:16:05.534" v="7956"/>
        <pc:sldMkLst>
          <pc:docMk/>
          <pc:sldMk cId="247584020" sldId="711"/>
        </pc:sldMkLst>
        <pc:spChg chg="mod">
          <ac:chgData name="Sahu, Ashin Bhooshan" userId="2e33ee39-f086-4335-b256-638b4a1cd7bc" providerId="ADAL" clId="{6D004FA2-7ED0-46CA-AA3C-6F7A60BF6F5F}" dt="2026-08-02T17:21:44.039" v="6799" actId="1076"/>
          <ac:spMkLst>
            <pc:docMk/>
            <pc:sldMk cId="247584020" sldId="711"/>
            <ac:spMk id="11" creationId="{00000000-0000-0000-0000-000000000000}"/>
          </ac:spMkLst>
        </pc:spChg>
        <pc:spChg chg="mod">
          <ac:chgData name="Sahu, Ashin Bhooshan" userId="2e33ee39-f086-4335-b256-638b4a1cd7bc" providerId="ADAL" clId="{6D004FA2-7ED0-46CA-AA3C-6F7A60BF6F5F}" dt="2026-08-02T17:22:08.292" v="6808" actId="20577"/>
          <ac:spMkLst>
            <pc:docMk/>
            <pc:sldMk cId="247584020" sldId="711"/>
            <ac:spMk id="12" creationId="{00000000-0000-0000-0000-000000000000}"/>
          </ac:spMkLst>
        </pc:spChg>
        <pc:spChg chg="mod">
          <ac:chgData name="Sahu, Ashin Bhooshan" userId="2e33ee39-f086-4335-b256-638b4a1cd7bc" providerId="ADAL" clId="{6D004FA2-7ED0-46CA-AA3C-6F7A60BF6F5F}" dt="2026-08-02T17:22:04.104" v="6802" actId="1076"/>
          <ac:spMkLst>
            <pc:docMk/>
            <pc:sldMk cId="247584020" sldId="711"/>
            <ac:spMk id="13" creationId="{00000000-0000-0000-0000-000000000000}"/>
          </ac:spMkLst>
        </pc:spChg>
        <pc:cxnChg chg="mod">
          <ac:chgData name="Sahu, Ashin Bhooshan" userId="2e33ee39-f086-4335-b256-638b4a1cd7bc" providerId="ADAL" clId="{6D004FA2-7ED0-46CA-AA3C-6F7A60BF6F5F}" dt="2026-08-02T17:21:59.805" v="6801" actId="1076"/>
          <ac:cxnSpMkLst>
            <pc:docMk/>
            <pc:sldMk cId="247584020" sldId="711"/>
            <ac:cxnSpMk id="10" creationId="{00000000-0000-0000-0000-000000000000}"/>
          </ac:cxnSpMkLst>
        </pc:cxnChg>
      </pc:sldChg>
      <pc:sldChg chg="modSp add del mod setBg">
        <pc:chgData name="Sahu, Ashin Bhooshan" userId="2e33ee39-f086-4335-b256-638b4a1cd7bc" providerId="ADAL" clId="{6D004FA2-7ED0-46CA-AA3C-6F7A60BF6F5F}" dt="2026-08-02T18:17:45.564" v="7735" actId="14100"/>
        <pc:sldMkLst>
          <pc:docMk/>
          <pc:sldMk cId="649124958" sldId="751"/>
        </pc:sldMkLst>
        <pc:spChg chg="mod">
          <ac:chgData name="Sahu, Ashin Bhooshan" userId="2e33ee39-f086-4335-b256-638b4a1cd7bc" providerId="ADAL" clId="{6D004FA2-7ED0-46CA-AA3C-6F7A60BF6F5F}" dt="2026-08-02T18:17:45.564" v="7735" actId="14100"/>
          <ac:spMkLst>
            <pc:docMk/>
            <pc:sldMk cId="649124958" sldId="751"/>
            <ac:spMk id="13" creationId="{3159B070-AE85-2863-AA8C-BD96B9AD1E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65693"/>
          </a:xfrm>
          <a:prstGeom prst="rect">
            <a:avLst/>
          </a:prstGeom>
          <a:noFill/>
          <a:ln w="9525">
            <a:noFill/>
            <a:miter lim="800000"/>
            <a:headEnd/>
            <a:tailEnd/>
          </a:ln>
          <a:effectLst/>
        </p:spPr>
        <p:txBody>
          <a:bodyPr vert="horz" wrap="square" lIns="91332" tIns="45666" rIns="91332" bIns="45666" numCol="1" anchor="t" anchorCtr="0" compatLnSpc="1">
            <a:prstTxWarp prst="textNoShape">
              <a:avLst/>
            </a:prstTxWarp>
          </a:bodyPr>
          <a:lstStyle>
            <a:lvl1pPr eaLnBrk="0" hangingPunct="0">
              <a:defRPr sz="1200">
                <a:cs typeface="ヒラギノ角ゴ Pro W3"/>
              </a:defRPr>
            </a:lvl1pPr>
          </a:lstStyle>
          <a:p>
            <a:pPr>
              <a:defRPr/>
            </a:pPr>
            <a:endParaRPr lang="en-US"/>
          </a:p>
        </p:txBody>
      </p:sp>
      <p:sp>
        <p:nvSpPr>
          <p:cNvPr id="24579" name="Rectangle 3"/>
          <p:cNvSpPr>
            <a:spLocks noGrp="1" noChangeArrowheads="1"/>
          </p:cNvSpPr>
          <p:nvPr>
            <p:ph type="dt" idx="1"/>
          </p:nvPr>
        </p:nvSpPr>
        <p:spPr bwMode="auto">
          <a:xfrm>
            <a:off x="3884613" y="0"/>
            <a:ext cx="2971800" cy="465693"/>
          </a:xfrm>
          <a:prstGeom prst="rect">
            <a:avLst/>
          </a:prstGeom>
          <a:noFill/>
          <a:ln w="9525">
            <a:noFill/>
            <a:miter lim="800000"/>
            <a:headEnd/>
            <a:tailEnd/>
          </a:ln>
          <a:effectLst/>
        </p:spPr>
        <p:txBody>
          <a:bodyPr vert="horz" wrap="square" lIns="91332" tIns="45666" rIns="91332" bIns="45666" numCol="1" anchor="t" anchorCtr="0" compatLnSpc="1">
            <a:prstTxWarp prst="textNoShape">
              <a:avLst/>
            </a:prstTxWarp>
          </a:bodyPr>
          <a:lstStyle>
            <a:lvl1pPr algn="r" eaLnBrk="0" hangingPunct="0">
              <a:defRPr sz="1200">
                <a:cs typeface="ヒラギノ角ゴ Pro W3"/>
              </a:defRPr>
            </a:lvl1pPr>
          </a:lstStyle>
          <a:p>
            <a:pPr>
              <a:defRPr/>
            </a:pPr>
            <a:fld id="{F6FD56A5-6355-4B13-B783-7CC5477550B3}" type="datetimeFigureOut">
              <a:rPr lang="en-US"/>
              <a:pPr>
                <a:defRPr/>
              </a:pPr>
              <a:t>8/5/2026</a:t>
            </a:fld>
            <a:endParaRPr lang="en-US"/>
          </a:p>
        </p:txBody>
      </p:sp>
      <p:sp>
        <p:nvSpPr>
          <p:cNvPr id="16388" name="Rectangle 4"/>
          <p:cNvSpPr>
            <a:spLocks noGrp="1" noRot="1" noChangeAspect="1" noChangeArrowheads="1" noTextEdit="1"/>
          </p:cNvSpPr>
          <p:nvPr>
            <p:ph type="sldImg" idx="2"/>
          </p:nvPr>
        </p:nvSpPr>
        <p:spPr bwMode="auto">
          <a:xfrm>
            <a:off x="327025" y="700088"/>
            <a:ext cx="6203950" cy="3490912"/>
          </a:xfrm>
          <a:prstGeom prst="rect">
            <a:avLst/>
          </a:prstGeom>
          <a:noFill/>
          <a:ln w="9525">
            <a:solidFill>
              <a:srgbClr val="000000"/>
            </a:solidFill>
            <a:miter lim="800000"/>
            <a:headEnd/>
            <a:tailEnd/>
          </a:ln>
        </p:spPr>
        <p:txBody>
          <a:bodyPr/>
          <a:lstStyle/>
          <a:p>
            <a:endParaRPr lang="en-US"/>
          </a:p>
        </p:txBody>
      </p:sp>
      <p:sp>
        <p:nvSpPr>
          <p:cNvPr id="24581" name="Rectangle 5"/>
          <p:cNvSpPr>
            <a:spLocks noGrp="1" noChangeArrowheads="1"/>
          </p:cNvSpPr>
          <p:nvPr>
            <p:ph type="body" sz="quarter" idx="3"/>
          </p:nvPr>
        </p:nvSpPr>
        <p:spPr bwMode="auto">
          <a:xfrm>
            <a:off x="685800" y="4424085"/>
            <a:ext cx="5486400" cy="4191238"/>
          </a:xfrm>
          <a:prstGeom prst="rect">
            <a:avLst/>
          </a:prstGeom>
          <a:noFill/>
          <a:ln w="9525">
            <a:noFill/>
            <a:miter lim="800000"/>
            <a:headEnd/>
            <a:tailEnd/>
          </a:ln>
          <a:effectLst/>
        </p:spPr>
        <p:txBody>
          <a:bodyPr vert="horz" wrap="square" lIns="91332" tIns="45666" rIns="91332" bIns="4566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0" y="8846554"/>
            <a:ext cx="2971800" cy="465693"/>
          </a:xfrm>
          <a:prstGeom prst="rect">
            <a:avLst/>
          </a:prstGeom>
          <a:noFill/>
          <a:ln w="9525">
            <a:noFill/>
            <a:miter lim="800000"/>
            <a:headEnd/>
            <a:tailEnd/>
          </a:ln>
          <a:effectLst/>
        </p:spPr>
        <p:txBody>
          <a:bodyPr vert="horz" wrap="square" lIns="91332" tIns="45666" rIns="91332" bIns="45666" numCol="1" anchor="b" anchorCtr="0" compatLnSpc="1">
            <a:prstTxWarp prst="textNoShape">
              <a:avLst/>
            </a:prstTxWarp>
          </a:bodyPr>
          <a:lstStyle>
            <a:lvl1pPr eaLnBrk="0" hangingPunct="0">
              <a:defRPr sz="1200">
                <a:cs typeface="ヒラギノ角ゴ Pro W3"/>
              </a:defRPr>
            </a:lvl1pPr>
          </a:lstStyle>
          <a:p>
            <a:pPr>
              <a:defRPr/>
            </a:pPr>
            <a:endParaRPr lang="en-US"/>
          </a:p>
        </p:txBody>
      </p:sp>
      <p:sp>
        <p:nvSpPr>
          <p:cNvPr id="24583" name="Rectangle 7"/>
          <p:cNvSpPr>
            <a:spLocks noGrp="1" noChangeArrowheads="1"/>
          </p:cNvSpPr>
          <p:nvPr>
            <p:ph type="sldNum" sz="quarter" idx="5"/>
          </p:nvPr>
        </p:nvSpPr>
        <p:spPr bwMode="auto">
          <a:xfrm>
            <a:off x="3884613" y="8846554"/>
            <a:ext cx="2971800" cy="465693"/>
          </a:xfrm>
          <a:prstGeom prst="rect">
            <a:avLst/>
          </a:prstGeom>
          <a:noFill/>
          <a:ln w="9525">
            <a:noFill/>
            <a:miter lim="800000"/>
            <a:headEnd/>
            <a:tailEnd/>
          </a:ln>
          <a:effectLst/>
        </p:spPr>
        <p:txBody>
          <a:bodyPr vert="horz" wrap="square" lIns="91332" tIns="45666" rIns="91332" bIns="45666" numCol="1" anchor="b" anchorCtr="0" compatLnSpc="1">
            <a:prstTxWarp prst="textNoShape">
              <a:avLst/>
            </a:prstTxWarp>
          </a:bodyPr>
          <a:lstStyle>
            <a:lvl1pPr algn="r" eaLnBrk="0" hangingPunct="0">
              <a:defRPr sz="1200">
                <a:cs typeface="ヒラギノ角ゴ Pro W3"/>
              </a:defRPr>
            </a:lvl1pPr>
          </a:lstStyle>
          <a:p>
            <a:pPr>
              <a:defRPr/>
            </a:pPr>
            <a:fld id="{6E074355-CE0D-4C68-A6CB-C364ED71B33B}" type="slidenum">
              <a:rPr lang="en-US"/>
              <a:pPr>
                <a:defRPr/>
              </a:pPr>
              <a:t>‹#›</a:t>
            </a:fld>
            <a:endParaRPr lang="en-US"/>
          </a:p>
        </p:txBody>
      </p:sp>
    </p:spTree>
    <p:extLst>
      <p:ext uri="{BB962C8B-B14F-4D97-AF65-F5344CB8AC3E}">
        <p14:creationId xmlns:p14="http://schemas.microsoft.com/office/powerpoint/2010/main" val="15090979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E074355-CE0D-4C68-A6CB-C364ED71B33B}" type="slidenum">
              <a:rPr kumimoji="0" lang="en-US" sz="1200" b="0" i="0" u="none" strike="noStrike" kern="1200" cap="none" spc="0" normalizeH="0" baseline="0" noProof="0" smtClean="0">
                <a:ln>
                  <a:noFill/>
                </a:ln>
                <a:solidFill>
                  <a:srgbClr val="000000"/>
                </a:solidFill>
                <a:effectLst/>
                <a:uLnTx/>
                <a:uFillTx/>
                <a:latin typeface="Arial" charset="0"/>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srgbClr val="000000"/>
              </a:solidFill>
              <a:effectLst/>
              <a:uLnTx/>
              <a:uFillTx/>
              <a:latin typeface="Arial" charset="0"/>
            </a:endParaRPr>
          </a:p>
        </p:txBody>
      </p:sp>
    </p:spTree>
    <p:extLst>
      <p:ext uri="{BB962C8B-B14F-4D97-AF65-F5344CB8AC3E}">
        <p14:creationId xmlns:p14="http://schemas.microsoft.com/office/powerpoint/2010/main" val="1468799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am Ashin Sahu. This is my high-risk project for AI in Healthcare: an AI-assisted mortality risk pipeline for life insurance underwriting. I will cover the problem, method, results, a short demo, and </a:t>
            </a:r>
            <a:r>
              <a:rPr lang="en-US" dirty="0"/>
              <a:t>future direction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Underwriting is really a healthcare risk problem, and getting it wrong hurts both ways: too low and the insurer is exposed, too high and people are priced out of coverage. The industry uses GLMs because they can be explained to a regulator. ML is more expressive but opaque, in a domain where people are entitled to an explanation. That tension is my starting point.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questions: can ML beat a GLM; can SHAP restore interpretability; can an LLM agent write a faithful narrative; and does retrieval grounding improve it. One constraint holds throughout, and it is the key design decision: the language model explains, it never predicts.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dirty="0"/>
              <a:t>Four strands. Weng showed ML helps cardiovascular risk prediction. Lundberg gave us SHAP. </a:t>
            </a:r>
            <a:r>
              <a:rPr lang="en-US" sz="1200" b="0" i="0" kern="1200" dirty="0">
                <a:solidFill>
                  <a:schemeClr val="tx1"/>
                </a:solidFill>
                <a:effectLst/>
                <a:latin typeface="Calibri" pitchFamily="34" charset="0"/>
                <a:ea typeface="+mn-ea"/>
                <a:cs typeface="+mn-cs"/>
              </a:rPr>
              <a:t>Rudin argues that black-box models should not be used in high-stakes decisions. My project addresses this concern by translating model explanations into human-readable reports, improving transparency while keeping humans in the decision-making loop</a:t>
            </a:r>
            <a:r>
              <a:rPr dirty="0"/>
              <a:t>. </a:t>
            </a:r>
            <a:r>
              <a:rPr dirty="0" err="1"/>
              <a:t>ReAct</a:t>
            </a:r>
            <a:r>
              <a:rPr dirty="0"/>
              <a:t> and RAG give the agent architecture. My contribution is the last column.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NHANES cycles linked to the CDC mortality file. I chose older cycles on purpose: against the fixed 2019 cutoff they give seven to twelve years of follow-up, so enough observed deaths to learn from. Eighteen and a half thousand adults, eighty-four features, fourteen percent mortality, and that imbalance on the right drove every training choice. Everything runs locally, including the language model.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whole pipeline. Data is merged on SEQN, cleaned, and split before any transformer is fitted, so there is no leakage.</a:t>
            </a:r>
            <a:r>
              <a:rPr lang="en-US" dirty="0"/>
              <a:t> The medical literatures are chunked and index for RAG.</a:t>
            </a:r>
            <a:r>
              <a:rPr dirty="0"/>
              <a:t> Three models train on identical features; SHAP explains the best one. Then the interesting part: the SHAP attributions do double duty. They go to the LLM agent, and they also become the search queries that pull grounding literature from a vector store. The agent has three clinical tools backed by an auditable JSON of published thresholds, and it never touches the prediction.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Calibri" pitchFamily="34" charset="0"/>
                <a:ea typeface="+mn-ea"/>
                <a:cs typeface="+mn-cs"/>
              </a:rPr>
              <a:t>First result, and clearer than I expected. XGBoost wins every metric, albeit by a small margin of AUROC over the interpretable GLM. The ROC and PR curves nearly overlap, but the consistent lead suggests that some predictive signal is captured by the more expressive model. The neural network offered no additional benefit on this tabular dataset. Importantly, the project shows that high-performing black-box models do not have to remain opaque. By combining XGBoost with SHAP explanations and LLM-generated underwriting reports, the model's reasoning can be translated into a transparent, human-readable form for review. In that sense, the results challenge Rudin's claim that black-box models should be avoided entirely in high-stakes settings, demonstrating instead that strong predictive performance and meaningful transparency can coexist when appropriate explanation and human oversight are built into the workflow.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Second result. SHAP says age dominates and the GLM independently agrees, which suggests the model learned real clinical structure rather than artifacts. The </a:t>
            </a:r>
            <a:r>
              <a:rPr dirty="0" err="1"/>
              <a:t>beeswarm</a:t>
            </a:r>
            <a:r>
              <a:rPr dirty="0"/>
              <a:t> on the right adds direction, per applicant. The table on the </a:t>
            </a:r>
            <a:r>
              <a:rPr lang="en-US" dirty="0"/>
              <a:t>right</a:t>
            </a:r>
            <a:r>
              <a:rPr dirty="0"/>
              <a:t> shows the actual GLM coefficients, and also the negative BMI coefficient which is reverse causality. A naive reading would be badly wrong, which is exactly why a human must review attributions.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Third result. Two reporting variants, same agent and same three tools, so retrieval is the only difference. RAG moved reports from zero citations to three each, from a fifty-document base of guidelines and open-access papers. Crucially faithfulness did not </a:t>
            </a:r>
            <a:r>
              <a:rPr lang="en-US" dirty="0"/>
              <a:t>deteriorate</a:t>
            </a:r>
            <a:r>
              <a:rPr dirty="0"/>
              <a:t>: both variants still name the model's own top driver in all eight cases. The design point is where retrieval sits. I run it before the model is called, not as a tool the agent can decline. In a regulated workflow you cannot let </a:t>
            </a:r>
            <a:r>
              <a:t>a model </a:t>
            </a:r>
            <a:r>
              <a:rPr dirty="0"/>
              <a:t>decide whether today's report needs evidence.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0" fontAlgn="t"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Calibri" pitchFamily="34" charset="0"/>
                <a:ea typeface="+mn-ea"/>
                <a:cs typeface="+mn-cs"/>
              </a:rPr>
              <a:t>This slide presents the </a:t>
            </a:r>
            <a:r>
              <a:rPr lang="en-US" sz="1200" b="0" i="0" kern="1200" dirty="0" err="1">
                <a:solidFill>
                  <a:schemeClr val="tx1"/>
                </a:solidFill>
                <a:effectLst/>
                <a:latin typeface="Calibri" pitchFamily="34" charset="0"/>
                <a:ea typeface="+mn-ea"/>
                <a:cs typeface="+mn-cs"/>
              </a:rPr>
              <a:t>Gradio</a:t>
            </a:r>
            <a:r>
              <a:rPr lang="en-US" sz="1200" b="0" i="0" kern="1200" dirty="0">
                <a:solidFill>
                  <a:schemeClr val="tx1"/>
                </a:solidFill>
                <a:effectLst/>
                <a:latin typeface="Calibri" pitchFamily="34" charset="0"/>
                <a:ea typeface="+mn-ea"/>
                <a:cs typeface="+mn-cs"/>
              </a:rPr>
              <a:t>-based demo application for the underwriting assistant. The user takes applicant data or manually enters, generates a mortality risk prediction, selects the approach tools only / Tools + Rag / Both, explains the prediction with SHAP factors, optionally grounds the explanation with retrieved clinical literature, and produces a transparent underwriting report. The interface displays the risk score, underwriting category, SHAP explanations, retrieval results, and execution log in one place. Users can switch between reporting approaches and inspect the exact clinical passages used for grounding. By exposing the prediction, explanation, retrieval, and report-generation steps, the application provides an auditable workflow where underwriters can understand both the model's reasoning and the evidence supporting the final narrative.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Calibri" pitchFamily="34" charset="0"/>
                <a:ea typeface="+mn-ea"/>
                <a:cs typeface="+mn-cs"/>
              </a:rPr>
              <a:t>This slide summarizes what I would improve if I repeated the project, and where the work can go next. The biggest change would be to model time-to-event instead of using a simple binary mortality label, because follow-up time contains important risk information. I would also define report-quality and faithfulness metrics before generating reports, test retrieval quality earlier, and evaluate on a larger sample. Future work would focus on survival modeling, calibration and fairness auditing, stronger citation validation, and evaluation with practicing underwriters.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Calibri" pitchFamily="34" charset="0"/>
                <a:ea typeface="+mn-ea"/>
                <a:cs typeface="+mn-cs"/>
              </a:rPr>
              <a:t>To conclude, this project demonstrates a fully local and reproducible underwriting pipeline that combines mortality risk prediction, SHAP-based explainability, retrieval-grounded evidence, and agentic report generation. XGBoost achieved the best predictive performance, while SHAP and LLM-generated narratives made its decisions easier to interpret and review. The key takeaway is that transparency and performance do not have to be mutually exclusive, and that grounding should be treated as an architectural design choice. By separating prediction, explanation, and evidence retrieval into distinct stages, the system provides a more transparent and auditable workflow for high-stakes decision making. </a:t>
            </a:r>
            <a:r>
              <a:rPr lang="en-US" sz="1200" b="0" i="0" kern="1200">
                <a:solidFill>
                  <a:schemeClr val="tx1"/>
                </a:solidFill>
                <a:effectLst/>
                <a:latin typeface="Calibri" pitchFamily="34" charset="0"/>
                <a:ea typeface="+mn-ea"/>
                <a:cs typeface="+mn-cs"/>
              </a:rPr>
              <a:t>Thank you.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52039-9DAF-3F65-F18A-177517D88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CE1D0-2094-13CA-F1D1-059CB9AB1E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8576E0F-BAE3-46AD-10FB-8B9B7C1AC1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E34C9-AE7A-1981-8AB0-63C225E4FAA9}"/>
              </a:ext>
            </a:extLst>
          </p:cNvPr>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E074355-CE0D-4C68-A6CB-C364ED71B33B}" type="slidenum">
              <a:rPr kumimoji="0" lang="en-US" sz="1200" b="0" i="0" u="none" strike="noStrike" kern="1200" cap="none" spc="0" normalizeH="0" baseline="0" noProof="0" smtClean="0">
                <a:ln>
                  <a:noFill/>
                </a:ln>
                <a:solidFill>
                  <a:srgbClr val="000000"/>
                </a:solidFill>
                <a:effectLst/>
                <a:uLnTx/>
                <a:uFillTx/>
                <a:latin typeface="Arial" charset="0"/>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Arial" charset="0"/>
            </a:endParaRPr>
          </a:p>
        </p:txBody>
      </p:sp>
    </p:spTree>
    <p:extLst>
      <p:ext uri="{BB962C8B-B14F-4D97-AF65-F5344CB8AC3E}">
        <p14:creationId xmlns:p14="http://schemas.microsoft.com/office/powerpoint/2010/main" val="3934030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343"/>
            <a:ext cx="7772400" cy="1102995"/>
          </a:xfrm>
        </p:spPr>
        <p:txBody>
          <a:bodyPr/>
          <a:lstStyle>
            <a:lvl1pPr>
              <a:defRPr>
                <a:solidFill>
                  <a:schemeClr val="bg2"/>
                </a:solidFill>
              </a:defRPr>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bg2"/>
                </a:solidFill>
                <a:latin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56133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857250"/>
          </a:xfrm>
        </p:spPr>
        <p:txBody>
          <a:bodyPr/>
          <a:lstStyle/>
          <a:p>
            <a:r>
              <a:rPr lang="en-US" dirty="0"/>
              <a:t>Click to edit Master title style</a:t>
            </a:r>
          </a:p>
        </p:txBody>
      </p:sp>
      <p:sp>
        <p:nvSpPr>
          <p:cNvPr id="3" name="Content Placeholder 2"/>
          <p:cNvSpPr>
            <a:spLocks noGrp="1"/>
          </p:cNvSpPr>
          <p:nvPr>
            <p:ph idx="1"/>
          </p:nvPr>
        </p:nvSpPr>
        <p:spPr>
          <a:xfrm>
            <a:off x="457200" y="1682496"/>
            <a:ext cx="8229600" cy="29489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3078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Title 1"/>
          <p:cNvSpPr>
            <a:spLocks noGrp="1"/>
          </p:cNvSpPr>
          <p:nvPr>
            <p:ph type="title"/>
          </p:nvPr>
        </p:nvSpPr>
        <p:spPr>
          <a:xfrm>
            <a:off x="722313" y="3305176"/>
            <a:ext cx="7772400" cy="1021556"/>
          </a:xfrm>
        </p:spPr>
        <p:txBody>
          <a:bodyPr anchor="t"/>
          <a:lstStyle>
            <a:lvl1pPr algn="l">
              <a:defRPr sz="4000" b="1" cap="all">
                <a:latin typeface="Arial"/>
              </a:defRPr>
            </a:lvl1pPr>
          </a:lstStyle>
          <a:p>
            <a:r>
              <a:rPr lang="en-US" dirty="0"/>
              <a:t>Click to edit Master title style</a:t>
            </a:r>
          </a:p>
        </p:txBody>
      </p:sp>
      <p:sp>
        <p:nvSpPr>
          <p:cNvPr id="5" name="Text Placeholder 2"/>
          <p:cNvSpPr>
            <a:spLocks noGrp="1"/>
          </p:cNvSpPr>
          <p:nvPr>
            <p:ph type="body" idx="1"/>
          </p:nvPr>
        </p:nvSpPr>
        <p:spPr>
          <a:xfrm>
            <a:off x="722313" y="2180035"/>
            <a:ext cx="7772400" cy="1125140"/>
          </a:xfrm>
        </p:spPr>
        <p:txBody>
          <a:bodyPr anchor="b"/>
          <a:lstStyle>
            <a:lvl1pPr marL="0" indent="0">
              <a:buNone/>
              <a:defRPr sz="2000">
                <a:solidFill>
                  <a:schemeClr val="bg2"/>
                </a:solidFill>
                <a:latin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685988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2496"/>
            <a:ext cx="4038600" cy="3017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82496"/>
            <a:ext cx="4038600" cy="3017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6750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0688" y="641510"/>
            <a:ext cx="3008313" cy="871538"/>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920884"/>
            <a:ext cx="5111750" cy="40511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20688" y="1601629"/>
            <a:ext cx="3008313" cy="31418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436964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829050"/>
            <a:ext cx="5486400" cy="42576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85800"/>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254817"/>
            <a:ext cx="5486400" cy="6029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436138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969085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857250"/>
          </a:xfrm>
        </p:spPr>
        <p:txBody>
          <a:bodyPr/>
          <a:lstStyle/>
          <a:p>
            <a:r>
              <a:rPr lang="en-US" dirty="0"/>
              <a:t>Click to edit Master title style</a:t>
            </a:r>
          </a:p>
        </p:txBody>
      </p:sp>
      <p:sp>
        <p:nvSpPr>
          <p:cNvPr id="3" name="Content Placeholder 2"/>
          <p:cNvSpPr>
            <a:spLocks noGrp="1"/>
          </p:cNvSpPr>
          <p:nvPr>
            <p:ph idx="1"/>
          </p:nvPr>
        </p:nvSpPr>
        <p:spPr>
          <a:xfrm>
            <a:off x="457200" y="1682496"/>
            <a:ext cx="8229600" cy="291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7501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atin typeface="Arial"/>
              </a:defRPr>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bg2"/>
                </a:solidFill>
                <a:latin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679158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82496"/>
            <a:ext cx="4038600" cy="31087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82496"/>
            <a:ext cx="4038600" cy="31087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043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Title 1"/>
          <p:cNvSpPr>
            <a:spLocks noGrp="1"/>
          </p:cNvSpPr>
          <p:nvPr>
            <p:ph type="title"/>
          </p:nvPr>
        </p:nvSpPr>
        <p:spPr>
          <a:xfrm>
            <a:off x="420688" y="641510"/>
            <a:ext cx="3008313" cy="871538"/>
          </a:xfrm>
        </p:spPr>
        <p:txBody>
          <a:bodyPr anchor="b"/>
          <a:lstStyle>
            <a:lvl1pPr algn="l">
              <a:defRPr sz="2000" b="1"/>
            </a:lvl1pPr>
          </a:lstStyle>
          <a:p>
            <a:r>
              <a:rPr lang="en-US" dirty="0"/>
              <a:t>Click to edit Master title style</a:t>
            </a:r>
          </a:p>
        </p:txBody>
      </p:sp>
      <p:sp>
        <p:nvSpPr>
          <p:cNvPr id="6" name="Content Placeholder 2"/>
          <p:cNvSpPr>
            <a:spLocks noGrp="1"/>
          </p:cNvSpPr>
          <p:nvPr>
            <p:ph idx="1"/>
          </p:nvPr>
        </p:nvSpPr>
        <p:spPr>
          <a:xfrm>
            <a:off x="3575050" y="920884"/>
            <a:ext cx="5111750" cy="40511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half" idx="2"/>
          </p:nvPr>
        </p:nvSpPr>
        <p:spPr>
          <a:xfrm>
            <a:off x="420688" y="1601629"/>
            <a:ext cx="3008313" cy="31418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349021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Title 1"/>
          <p:cNvSpPr>
            <a:spLocks noGrp="1"/>
          </p:cNvSpPr>
          <p:nvPr>
            <p:ph type="title"/>
          </p:nvPr>
        </p:nvSpPr>
        <p:spPr>
          <a:xfrm>
            <a:off x="1792288" y="3829050"/>
            <a:ext cx="5486400" cy="425768"/>
          </a:xfrm>
        </p:spPr>
        <p:txBody>
          <a:bodyPr anchor="b"/>
          <a:lstStyle>
            <a:lvl1pPr algn="l">
              <a:defRPr sz="2000" b="1"/>
            </a:lvl1pPr>
          </a:lstStyle>
          <a:p>
            <a:r>
              <a:rPr lang="en-US" dirty="0"/>
              <a:t>Click to edit Master title style</a:t>
            </a:r>
          </a:p>
        </p:txBody>
      </p:sp>
      <p:sp>
        <p:nvSpPr>
          <p:cNvPr id="6" name="Picture Placeholder 2"/>
          <p:cNvSpPr>
            <a:spLocks noGrp="1"/>
          </p:cNvSpPr>
          <p:nvPr>
            <p:ph type="pic" idx="1"/>
          </p:nvPr>
        </p:nvSpPr>
        <p:spPr>
          <a:xfrm>
            <a:off x="1792288" y="685800"/>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7" name="Text Placeholder 3"/>
          <p:cNvSpPr>
            <a:spLocks noGrp="1"/>
          </p:cNvSpPr>
          <p:nvPr>
            <p:ph type="body" sz="half" idx="2"/>
          </p:nvPr>
        </p:nvSpPr>
        <p:spPr>
          <a:xfrm>
            <a:off x="1792288" y="4254817"/>
            <a:ext cx="5486400" cy="6029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402670816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theme" Target="../theme/theme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495300" y="1200150"/>
            <a:ext cx="7886700" cy="1752600"/>
          </a:xfrm>
          <a:prstGeom prst="rect">
            <a:avLst/>
          </a:prstGeom>
        </p:spPr>
        <p:txBody>
          <a:bodyPr vert="horz" wrap="square" lIns="91440" tIns="45720" rIns="91440" bIns="45720" rtlCol="0" anchor="b">
            <a:noAutofit/>
          </a:bodyPr>
          <a:lstStyle/>
          <a:p>
            <a:r>
              <a:rPr lang="en-US" dirty="0"/>
              <a:t>Insert your</a:t>
            </a:r>
            <a:br>
              <a:rPr lang="en-US" dirty="0"/>
            </a:br>
            <a:r>
              <a:rPr lang="en-US" dirty="0"/>
              <a:t>headline here</a:t>
            </a:r>
            <a:br>
              <a:rPr lang="en-US" dirty="0"/>
            </a:br>
            <a:r>
              <a:rPr lang="en-US" dirty="0"/>
              <a:t>up to 3 lines</a:t>
            </a:r>
          </a:p>
        </p:txBody>
      </p:sp>
      <p:sp>
        <p:nvSpPr>
          <p:cNvPr id="10" name="Text Placeholder 9"/>
          <p:cNvSpPr>
            <a:spLocks noGrp="1"/>
          </p:cNvSpPr>
          <p:nvPr>
            <p:ph type="body" idx="1"/>
          </p:nvPr>
        </p:nvSpPr>
        <p:spPr>
          <a:xfrm>
            <a:off x="495300" y="3333749"/>
            <a:ext cx="7886700" cy="457201"/>
          </a:xfrm>
          <a:prstGeom prst="rect">
            <a:avLst/>
          </a:prstGeom>
        </p:spPr>
        <p:txBody>
          <a:bodyPr vert="horz" lIns="91440" tIns="45720" rIns="91440" bIns="45720" rtlCol="0">
            <a:noAutofit/>
          </a:bodyPr>
          <a:lstStyle/>
          <a:p>
            <a:pPr lvl="0"/>
            <a:r>
              <a:rPr lang="en-US" dirty="0"/>
              <a:t>Insert your subtitle or any additional description text here up to</a:t>
            </a:r>
            <a:br>
              <a:rPr lang="en-US" dirty="0"/>
            </a:br>
            <a:r>
              <a:rPr lang="en-US" dirty="0"/>
              <a:t>two lines of text or you can delete this text box</a:t>
            </a:r>
          </a:p>
        </p:txBody>
      </p:sp>
      <p:cxnSp>
        <p:nvCxnSpPr>
          <p:cNvPr id="14" name="Straight Connector 13"/>
          <p:cNvCxnSpPr/>
          <p:nvPr userDrawn="1"/>
        </p:nvCxnSpPr>
        <p:spPr>
          <a:xfrm>
            <a:off x="628650" y="3105150"/>
            <a:ext cx="56197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 Placeholder 9"/>
          <p:cNvSpPr txBox="1">
            <a:spLocks/>
          </p:cNvSpPr>
          <p:nvPr userDrawn="1"/>
        </p:nvSpPr>
        <p:spPr>
          <a:xfrm>
            <a:off x="490384" y="4171949"/>
            <a:ext cx="7886700" cy="457201"/>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auto">
              <a:lnSpc>
                <a:spcPct val="50000"/>
              </a:lnSpc>
              <a:spcAft>
                <a:spcPts val="0"/>
              </a:spcAft>
            </a:pPr>
            <a:r>
              <a:rPr lang="en-US" sz="1050" b="0" i="0" cap="all" baseline="0" dirty="0">
                <a:latin typeface="Arial Black" charset="0"/>
              </a:rPr>
              <a:t>Presenter or speaker name</a:t>
            </a:r>
          </a:p>
          <a:p>
            <a:pPr fontAlgn="auto">
              <a:lnSpc>
                <a:spcPct val="30000"/>
              </a:lnSpc>
              <a:spcAft>
                <a:spcPts val="0"/>
              </a:spcAft>
            </a:pPr>
            <a:r>
              <a:rPr lang="en-US" sz="1050" dirty="0"/>
              <a:t>Position/Role,</a:t>
            </a:r>
            <a:r>
              <a:rPr lang="en-US" sz="1050" baseline="0" dirty="0"/>
              <a:t> The University of Texas at Austin</a:t>
            </a:r>
            <a:endParaRPr lang="en-US" sz="1050" dirty="0"/>
          </a:p>
        </p:txBody>
      </p:sp>
      <p:sp>
        <p:nvSpPr>
          <p:cNvPr id="16" name="Text Placeholder 9"/>
          <p:cNvSpPr txBox="1">
            <a:spLocks/>
          </p:cNvSpPr>
          <p:nvPr userDrawn="1"/>
        </p:nvSpPr>
        <p:spPr>
          <a:xfrm>
            <a:off x="548640" y="457200"/>
            <a:ext cx="7828444" cy="38929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auto">
              <a:spcAft>
                <a:spcPts val="0"/>
              </a:spcAft>
            </a:pPr>
            <a:r>
              <a:rPr lang="en-US" sz="1200" b="0" i="0" cap="all" baseline="0" dirty="0">
                <a:latin typeface="Arial Black" charset="0"/>
              </a:rPr>
              <a:t>Month 20xx</a:t>
            </a:r>
            <a:endParaRPr lang="en-US" sz="1200" b="0" dirty="0"/>
          </a:p>
        </p:txBody>
      </p:sp>
    </p:spTree>
    <p:extLst>
      <p:ext uri="{BB962C8B-B14F-4D97-AF65-F5344CB8AC3E}">
        <p14:creationId xmlns:p14="http://schemas.microsoft.com/office/powerpoint/2010/main" val="1503322918"/>
      </p:ext>
    </p:extLst>
  </p:cSld>
  <p:clrMap bg1="lt1" tx1="dk1" bg2="lt2" tx2="dk2" accent1="accent1" accent2="accent2" accent3="accent3" accent4="accent4" accent5="accent5" accent6="accent6" hlink="hlink" folHlink="folHlink"/>
  <p:txStyles>
    <p:titleStyle>
      <a:lvl1pPr algn="l" defTabSz="914400" rtl="0" eaLnBrk="1" latinLnBrk="0" hangingPunct="1">
        <a:lnSpc>
          <a:spcPts val="4000"/>
        </a:lnSpc>
        <a:spcBef>
          <a:spcPct val="0"/>
        </a:spcBef>
        <a:buNone/>
        <a:defRPr sz="4800" b="1" i="0" kern="800" cap="all" normalizeH="0" baseline="0">
          <a:solidFill>
            <a:schemeClr val="bg1"/>
          </a:solidFill>
          <a:latin typeface="Arial Black" charset="0"/>
          <a:ea typeface="Arial Black" charset="0"/>
          <a:cs typeface="Arial Black" charset="0"/>
        </a:defRPr>
      </a:lvl1pPr>
    </p:titleStyle>
    <p:bodyStyle>
      <a:lvl1pPr marL="0" indent="0" algn="l" defTabSz="914400" rtl="0" eaLnBrk="1" latinLnBrk="0" hangingPunct="1">
        <a:lnSpc>
          <a:spcPct val="90000"/>
        </a:lnSpc>
        <a:spcBef>
          <a:spcPts val="1000"/>
        </a:spcBef>
        <a:buFont typeface="Arial"/>
        <a:buNone/>
        <a:defRPr sz="14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80210"/>
            <a:ext cx="8229600" cy="29489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81823911"/>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7" r:id="rId5"/>
    <p:sldLayoutId id="2147483668" r:id="rId6"/>
  </p:sldLayoutIdLst>
  <p:txStyles>
    <p:titleStyle>
      <a:lvl1pPr algn="l" defTabSz="457200" rtl="0" eaLnBrk="1" latinLnBrk="0" hangingPunct="1">
        <a:spcBef>
          <a:spcPct val="0"/>
        </a:spcBef>
        <a:buNone/>
        <a:defRPr sz="4400" kern="1200">
          <a:solidFill>
            <a:schemeClr val="bg2"/>
          </a:solidFill>
          <a:latin typeface="Arial"/>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2"/>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bg2"/>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bg2"/>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bg2"/>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bg2"/>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79972"/>
            <a:ext cx="8229600" cy="29146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163865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7" r:id="rId5"/>
    <p:sldLayoutId id="2147483678" r:id="rId6"/>
  </p:sldLayoutIdLst>
  <p:txStyles>
    <p:titleStyle>
      <a:lvl1pPr algn="l" defTabSz="457200" rtl="0" eaLnBrk="1" latinLnBrk="0" hangingPunct="1">
        <a:spcBef>
          <a:spcPct val="0"/>
        </a:spcBef>
        <a:buNone/>
        <a:defRPr sz="4400" kern="1200">
          <a:solidFill>
            <a:schemeClr val="bg2"/>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Arial"/>
        <a:buChar char="•"/>
        <a:defRPr sz="3200" kern="1200">
          <a:solidFill>
            <a:schemeClr val="bg2"/>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bg2"/>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bg2"/>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bg2"/>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bg2"/>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cxnSp>
        <p:nvCxnSpPr>
          <p:cNvPr id="10" name="Straight Connector 9"/>
          <p:cNvCxnSpPr/>
          <p:nvPr/>
        </p:nvCxnSpPr>
        <p:spPr>
          <a:xfrm>
            <a:off x="609600" y="3409950"/>
            <a:ext cx="56197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9"/>
          <p:cNvSpPr txBox="1">
            <a:spLocks/>
          </p:cNvSpPr>
          <p:nvPr/>
        </p:nvSpPr>
        <p:spPr>
          <a:xfrm>
            <a:off x="559526" y="3486149"/>
            <a:ext cx="7886700" cy="457201"/>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50000"/>
              </a:lnSpc>
              <a:spcBef>
                <a:spcPts val="1000"/>
              </a:spcBef>
              <a:spcAft>
                <a:spcPts val="0"/>
              </a:spcAft>
              <a:buClrTx/>
              <a:buSzTx/>
              <a:buFont typeface="Arial"/>
              <a:buNone/>
              <a:tabLst/>
              <a:defRPr/>
            </a:pPr>
            <a:r>
              <a:rPr kumimoji="0" lang="en-US" sz="1050" b="0" i="0" u="none" strike="noStrike" kern="1200" cap="all" spc="0" normalizeH="0" baseline="0" noProof="0" dirty="0">
                <a:ln>
                  <a:noFill/>
                </a:ln>
                <a:solidFill>
                  <a:srgbClr val="FFFFFF"/>
                </a:solidFill>
                <a:effectLst/>
                <a:uLnTx/>
                <a:uFillTx/>
                <a:latin typeface="+mn-lt"/>
                <a:cs typeface="Arial" charset="0"/>
              </a:rPr>
              <a:t>Ashin Bhooshan Sahu</a:t>
            </a:r>
          </a:p>
          <a:p>
            <a:pPr marL="0" marR="0" lvl="0" indent="0" algn="l" defTabSz="914400" rtl="0" eaLnBrk="1" fontAlgn="auto" latinLnBrk="0" hangingPunct="1">
              <a:lnSpc>
                <a:spcPct val="50000"/>
              </a:lnSpc>
              <a:spcBef>
                <a:spcPts val="1000"/>
              </a:spcBef>
              <a:spcAft>
                <a:spcPts val="0"/>
              </a:spcAft>
              <a:buClrTx/>
              <a:buSzTx/>
              <a:buFont typeface="Arial"/>
              <a:buNone/>
              <a:tabLst/>
              <a:defRPr/>
            </a:pPr>
            <a:r>
              <a:rPr kumimoji="0" lang="en-US" sz="1050" b="0" i="0" u="none" strike="noStrike" kern="1200" cap="all" spc="0" normalizeH="0" baseline="0" noProof="0" dirty="0">
                <a:ln>
                  <a:noFill/>
                </a:ln>
                <a:solidFill>
                  <a:srgbClr val="FFFFFF"/>
                </a:solidFill>
                <a:effectLst/>
                <a:uLnTx/>
                <a:uFillTx/>
                <a:latin typeface="+mn-lt"/>
                <a:cs typeface="Arial" charset="0"/>
              </a:rPr>
              <a:t>The University of Texas at Austin   |   MS-AI: AI in Healthcare   |   High-Risk Project</a:t>
            </a:r>
          </a:p>
        </p:txBody>
      </p:sp>
      <p:sp>
        <p:nvSpPr>
          <p:cNvPr id="12" name="Text Placeholder 9"/>
          <p:cNvSpPr txBox="1">
            <a:spLocks/>
          </p:cNvSpPr>
          <p:nvPr/>
        </p:nvSpPr>
        <p:spPr>
          <a:xfrm>
            <a:off x="548640" y="457200"/>
            <a:ext cx="7828444" cy="38929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0" lang="en-US" sz="1200" b="0" i="0" u="none" strike="noStrike" kern="1200" cap="all" spc="0" normalizeH="0" baseline="0" noProof="0" dirty="0">
                <a:ln>
                  <a:noFill/>
                </a:ln>
                <a:solidFill>
                  <a:srgbClr val="FFFFFF"/>
                </a:solidFill>
                <a:effectLst/>
                <a:uLnTx/>
                <a:uFillTx/>
                <a:latin typeface="+mn-lt"/>
                <a:cs typeface="Arial" charset="0"/>
              </a:rPr>
              <a:t>Aug 02, 2026</a:t>
            </a:r>
            <a:endParaRPr kumimoji="0" lang="en-US" sz="1200" b="0" i="0" u="none" strike="noStrike" kern="1200" cap="none" spc="0" normalizeH="0" baseline="0" noProof="0" dirty="0">
              <a:ln>
                <a:noFill/>
              </a:ln>
              <a:solidFill>
                <a:srgbClr val="FFFFFF"/>
              </a:solidFill>
              <a:effectLst/>
              <a:uLnTx/>
              <a:uFillTx/>
              <a:latin typeface="+mn-lt"/>
              <a:cs typeface="Arial" charset="0"/>
            </a:endParaRPr>
          </a:p>
        </p:txBody>
      </p:sp>
      <p:sp>
        <p:nvSpPr>
          <p:cNvPr id="13" name="Title Placeholder 7"/>
          <p:cNvSpPr txBox="1">
            <a:spLocks/>
          </p:cNvSpPr>
          <p:nvPr/>
        </p:nvSpPr>
        <p:spPr>
          <a:xfrm>
            <a:off x="444664" y="2114553"/>
            <a:ext cx="7886700" cy="1219199"/>
          </a:xfrm>
          <a:prstGeom prst="rect">
            <a:avLst/>
          </a:prstGeom>
        </p:spPr>
        <p:txBody>
          <a:bodyPr vert="horz" wrap="square" lIns="91440" tIns="45720" rIns="91440" bIns="45720" rtlCol="0" anchor="b">
            <a:noAutofit/>
          </a:bodyPr>
          <a:lstStyle>
            <a:lvl1pPr algn="l" defTabSz="914400" rtl="0" eaLnBrk="1" latinLnBrk="0" hangingPunct="1">
              <a:lnSpc>
                <a:spcPts val="4000"/>
              </a:lnSpc>
              <a:spcBef>
                <a:spcPct val="0"/>
              </a:spcBef>
              <a:buNone/>
              <a:defRPr sz="4800" b="1" i="0" kern="800" cap="all" normalizeH="0" baseline="0">
                <a:solidFill>
                  <a:schemeClr val="bg1"/>
                </a:solidFill>
                <a:latin typeface="Arial Black" charset="0"/>
                <a:ea typeface="Arial Black" charset="0"/>
                <a:cs typeface="Arial Black" charset="0"/>
              </a:defRPr>
            </a:lvl1pPr>
          </a:lstStyle>
          <a:p>
            <a:pPr marL="0" marR="0" lvl="0" indent="0" algn="l" defTabSz="914400" rtl="0" eaLnBrk="1" fontAlgn="auto" latinLnBrk="0" hangingPunct="1">
              <a:lnSpc>
                <a:spcPts val="4000"/>
              </a:lnSpc>
              <a:spcBef>
                <a:spcPct val="0"/>
              </a:spcBef>
              <a:spcAft>
                <a:spcPts val="0"/>
              </a:spcAft>
              <a:buClrTx/>
              <a:buSzTx/>
              <a:buFontTx/>
              <a:buNone/>
              <a:tabLst/>
              <a:defRPr/>
            </a:pPr>
            <a:r>
              <a:rPr kumimoji="0" lang="en-US" sz="3600" b="1" i="0" u="none" strike="noStrike" kern="800" cap="all" spc="0" normalizeH="0" baseline="0" noProof="0" dirty="0">
                <a:ln>
                  <a:noFill/>
                </a:ln>
                <a:solidFill>
                  <a:srgbClr val="FFFFFF"/>
                </a:solidFill>
                <a:effectLst/>
                <a:uLnTx/>
                <a:uFillTx/>
                <a:latin typeface="+mn-lt"/>
              </a:rPr>
              <a:t>AI-Assisted Health Risk Prediction</a:t>
            </a:r>
          </a:p>
          <a:p>
            <a:pPr marL="0" marR="0" lvl="0" indent="0" algn="l" defTabSz="914400" rtl="0" eaLnBrk="1" fontAlgn="auto" latinLnBrk="0" hangingPunct="1">
              <a:lnSpc>
                <a:spcPts val="4000"/>
              </a:lnSpc>
              <a:spcBef>
                <a:spcPct val="0"/>
              </a:spcBef>
              <a:spcAft>
                <a:spcPts val="0"/>
              </a:spcAft>
              <a:buClrTx/>
              <a:buSzTx/>
              <a:buFontTx/>
              <a:buNone/>
              <a:tabLst/>
              <a:defRPr/>
            </a:pPr>
            <a:r>
              <a:rPr kumimoji="0" lang="en-US" sz="3600" b="1" i="0" u="none" strike="noStrike" kern="800" cap="all" spc="0" normalizeH="0" baseline="0" noProof="0" dirty="0">
                <a:ln>
                  <a:noFill/>
                </a:ln>
                <a:solidFill>
                  <a:srgbClr val="FFFFFF"/>
                </a:solidFill>
                <a:effectLst/>
                <a:uLnTx/>
                <a:uFillTx/>
                <a:latin typeface="+mn-lt"/>
              </a:rPr>
              <a:t>for Life Insurance Underwriting</a:t>
            </a:r>
          </a:p>
        </p:txBody>
      </p:sp>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8699" y="320040"/>
            <a:ext cx="1877397" cy="914400"/>
          </a:xfrm>
          <a:prstGeom prst="rect">
            <a:avLst/>
          </a:prstGeom>
        </p:spPr>
      </p:pic>
    </p:spTree>
    <p:extLst>
      <p:ext uri="{BB962C8B-B14F-4D97-AF65-F5344CB8AC3E}">
        <p14:creationId xmlns:p14="http://schemas.microsoft.com/office/powerpoint/2010/main" val="247584020"/>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hevron 5"/>
          <p:cNvSpPr/>
          <p:nvPr/>
        </p:nvSpPr>
        <p:spPr>
          <a:xfrm>
            <a:off x="551079" y="4155948"/>
            <a:ext cx="1660550" cy="566928"/>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dirty="0"/>
              <a:t>NHANES +</a:t>
            </a:r>
            <a:br>
              <a:rPr dirty="0"/>
            </a:br>
            <a:r>
              <a:rPr dirty="0"/>
              <a:t>CDC mortality</a:t>
            </a:r>
          </a:p>
        </p:txBody>
      </p:sp>
      <p:sp>
        <p:nvSpPr>
          <p:cNvPr id="7" name="Chevron 6"/>
          <p:cNvSpPr/>
          <p:nvPr/>
        </p:nvSpPr>
        <p:spPr>
          <a:xfrm>
            <a:off x="2133600" y="4155948"/>
            <a:ext cx="1660550" cy="566928"/>
          </a:xfrm>
          <a:prstGeom prst="chevron">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lang="en-US" dirty="0"/>
              <a:t>Models (GLM,NN &amp; </a:t>
            </a:r>
            <a:r>
              <a:rPr dirty="0"/>
              <a:t>XGBoost</a:t>
            </a:r>
            <a:r>
              <a:rPr lang="en-US" dirty="0"/>
              <a:t>)</a:t>
            </a:r>
            <a:br>
              <a:rPr dirty="0"/>
            </a:br>
            <a:r>
              <a:rPr dirty="0"/>
              <a:t>prediction</a:t>
            </a:r>
          </a:p>
        </p:txBody>
      </p:sp>
      <p:sp>
        <p:nvSpPr>
          <p:cNvPr id="8" name="Chevron 7"/>
          <p:cNvSpPr/>
          <p:nvPr/>
        </p:nvSpPr>
        <p:spPr>
          <a:xfrm>
            <a:off x="3738610" y="4158391"/>
            <a:ext cx="1660550" cy="566928"/>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dirty="0"/>
              <a:t>SHAP</a:t>
            </a:r>
            <a:br>
              <a:rPr dirty="0"/>
            </a:br>
            <a:r>
              <a:rPr dirty="0"/>
              <a:t>explanation</a:t>
            </a:r>
          </a:p>
        </p:txBody>
      </p:sp>
      <p:sp>
        <p:nvSpPr>
          <p:cNvPr id="9" name="Chevron 8"/>
          <p:cNvSpPr/>
          <p:nvPr/>
        </p:nvSpPr>
        <p:spPr>
          <a:xfrm>
            <a:off x="6932371" y="4155948"/>
            <a:ext cx="1660550" cy="566928"/>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850" b="1">
                <a:solidFill>
                  <a:srgbClr val="FFFFFF"/>
                </a:solidFill>
              </a:rPr>
              <a:t>Agentic LLM</a:t>
            </a:r>
            <a:br>
              <a:rPr sz="850" b="1">
                <a:solidFill>
                  <a:srgbClr val="FFFFFF"/>
                </a:solidFill>
              </a:rPr>
            </a:br>
            <a:r>
              <a:rPr sz="850" b="1">
                <a:solidFill>
                  <a:srgbClr val="FFFFFF"/>
                </a:solidFill>
              </a:rPr>
              <a:t>report</a:t>
            </a:r>
          </a:p>
        </p:txBody>
      </p:sp>
      <p:sp>
        <p:nvSpPr>
          <p:cNvPr id="10" name="Chevron 9"/>
          <p:cNvSpPr/>
          <p:nvPr/>
        </p:nvSpPr>
        <p:spPr>
          <a:xfrm>
            <a:off x="5327361" y="4155948"/>
            <a:ext cx="1660550" cy="566928"/>
          </a:xfrm>
          <a:prstGeom prst="chevron">
            <a:avLst/>
          </a:prstGeom>
          <a:solidFill>
            <a:schemeClr val="tx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dirty="0"/>
              <a:t>RAG</a:t>
            </a:r>
            <a:br>
              <a:rPr dirty="0"/>
            </a:br>
            <a:r>
              <a:rPr dirty="0"/>
              <a:t>grounding</a:t>
            </a:r>
          </a:p>
        </p:txBody>
      </p:sp>
      <p:sp>
        <p:nvSpPr>
          <p:cNvPr id="11" name="TextBox 10"/>
          <p:cNvSpPr txBox="1"/>
          <p:nvPr/>
        </p:nvSpPr>
        <p:spPr>
          <a:xfrm>
            <a:off x="274320" y="4754880"/>
            <a:ext cx="8522208" cy="172355"/>
          </a:xfrm>
          <a:prstGeom prst="rect">
            <a:avLst/>
          </a:prstGeom>
          <a:noFill/>
        </p:spPr>
        <p:txBody>
          <a:bodyPr wrap="square" lIns="18288" tIns="9144" rIns="18288" bIns="9144">
            <a:spAutoFit/>
          </a:bodyPr>
          <a:lstStyle/>
          <a:p>
            <a:pPr algn="ctr">
              <a:spcAft>
                <a:spcPts val="400"/>
              </a:spcAft>
              <a:defRPr sz="1000" b="1">
                <a:solidFill>
                  <a:srgbClr val="8C3F00"/>
                </a:solidFill>
              </a:defRPr>
            </a:pPr>
            <a:r>
              <a:rPr>
                <a:latin typeface="+mn-lt"/>
              </a:rPr>
              <a:t>Prediction, explanation and narrative kept as separate, auditable stages</a:t>
            </a:r>
          </a:p>
        </p:txBody>
      </p:sp>
      <p:pic>
        <p:nvPicPr>
          <p:cNvPr id="13" name="Picture 12">
            <a:extLst>
              <a:ext uri="{FF2B5EF4-FFF2-40B4-BE49-F238E27FC236}">
                <a16:creationId xmlns:a16="http://schemas.microsoft.com/office/drawing/2014/main" id="{7E2E3F2E-5F63-10CF-3677-0E6E7FAE5CA3}"/>
              </a:ext>
            </a:extLst>
          </p:cNvPr>
          <p:cNvPicPr>
            <a:picLocks noChangeAspect="1"/>
          </p:cNvPicPr>
          <p:nvPr/>
        </p:nvPicPr>
        <p:blipFill>
          <a:blip r:embed="rId3"/>
          <a:stretch>
            <a:fillRect/>
          </a:stretch>
        </p:blipFill>
        <p:spPr>
          <a:xfrm>
            <a:off x="1135719" y="526698"/>
            <a:ext cx="6799409" cy="34129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975360"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INTRODUCTION</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Problem and Motivation</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a:latin typeface="+mn-lt"/>
              </a:rPr>
              <a:t>Life insurance underwriting is a healthcare risk problem</a:t>
            </a:r>
          </a:p>
        </p:txBody>
      </p:sp>
      <p:sp>
        <p:nvSpPr>
          <p:cNvPr id="7" name="Oval 6"/>
          <p:cNvSpPr/>
          <p:nvPr/>
        </p:nvSpPr>
        <p:spPr>
          <a:xfrm>
            <a:off x="310896" y="1517904"/>
            <a:ext cx="402336" cy="402336"/>
          </a:xfrm>
          <a:prstGeom prst="ellipse">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600">
                <a:solidFill>
                  <a:srgbClr val="FFFFFF"/>
                </a:solidFill>
              </a:defRPr>
            </a:pPr>
            <a:r>
              <a:t>❤</a:t>
            </a:r>
          </a:p>
        </p:txBody>
      </p:sp>
      <p:sp>
        <p:nvSpPr>
          <p:cNvPr id="8" name="TextBox 7"/>
          <p:cNvSpPr txBox="1"/>
          <p:nvPr/>
        </p:nvSpPr>
        <p:spPr>
          <a:xfrm>
            <a:off x="813816" y="1499616"/>
            <a:ext cx="3840480" cy="477567"/>
          </a:xfrm>
          <a:prstGeom prst="rect">
            <a:avLst/>
          </a:prstGeom>
          <a:noFill/>
        </p:spPr>
        <p:txBody>
          <a:bodyPr wrap="square" lIns="18288" tIns="9144" rIns="18288" bIns="9144">
            <a:spAutoFit/>
          </a:bodyPr>
          <a:lstStyle/>
          <a:p>
            <a:pPr>
              <a:spcAft>
                <a:spcPts val="100"/>
              </a:spcAft>
              <a:defRPr sz="1100" b="1">
                <a:solidFill>
                  <a:srgbClr val="333333"/>
                </a:solidFill>
              </a:defRPr>
            </a:pPr>
            <a:r>
              <a:rPr dirty="0">
                <a:latin typeface="+mn-lt"/>
              </a:rPr>
              <a:t>Health data collected</a:t>
            </a:r>
          </a:p>
          <a:p>
            <a:pPr>
              <a:spcAft>
                <a:spcPts val="0"/>
              </a:spcAft>
              <a:defRPr sz="900" b="0">
                <a:solidFill>
                  <a:srgbClr val="6B6662"/>
                </a:solidFill>
              </a:defRPr>
            </a:pPr>
            <a:r>
              <a:rPr dirty="0">
                <a:latin typeface="+mn-lt"/>
              </a:rPr>
              <a:t>Age, blood pressure, cholesterol, HbA1c,</a:t>
            </a:r>
            <a:br>
              <a:rPr dirty="0">
                <a:latin typeface="+mn-lt"/>
              </a:rPr>
            </a:br>
            <a:r>
              <a:rPr dirty="0">
                <a:latin typeface="+mn-lt"/>
              </a:rPr>
              <a:t>kidney function, smoking, disease history</a:t>
            </a:r>
          </a:p>
        </p:txBody>
      </p:sp>
      <p:sp>
        <p:nvSpPr>
          <p:cNvPr id="9" name="Rectangle 8"/>
          <p:cNvSpPr/>
          <p:nvPr/>
        </p:nvSpPr>
        <p:spPr>
          <a:xfrm>
            <a:off x="493776" y="1956815"/>
            <a:ext cx="36576" cy="603504"/>
          </a:xfrm>
          <a:prstGeom prst="rect">
            <a:avLst/>
          </a:prstGeom>
          <a:solidFill>
            <a:srgbClr val="E2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10896" y="2596896"/>
            <a:ext cx="402336" cy="402336"/>
          </a:xfrm>
          <a:prstGeom prst="ellipse">
            <a:avLst/>
          </a:prstGeom>
          <a:solidFill>
            <a:srgbClr val="D48B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600">
                <a:solidFill>
                  <a:srgbClr val="FFFFFF"/>
                </a:solidFill>
              </a:defRPr>
            </a:pPr>
            <a:r>
              <a:t>⚠</a:t>
            </a:r>
          </a:p>
        </p:txBody>
      </p:sp>
      <p:sp>
        <p:nvSpPr>
          <p:cNvPr id="11" name="TextBox 10"/>
          <p:cNvSpPr txBox="1"/>
          <p:nvPr/>
        </p:nvSpPr>
        <p:spPr>
          <a:xfrm>
            <a:off x="813816" y="2578608"/>
            <a:ext cx="3840480" cy="477567"/>
          </a:xfrm>
          <a:prstGeom prst="rect">
            <a:avLst/>
          </a:prstGeom>
          <a:noFill/>
        </p:spPr>
        <p:txBody>
          <a:bodyPr wrap="square" lIns="18288" tIns="9144" rIns="18288" bIns="9144">
            <a:spAutoFit/>
          </a:bodyPr>
          <a:lstStyle/>
          <a:p>
            <a:pPr>
              <a:spcAft>
                <a:spcPts val="100"/>
              </a:spcAft>
              <a:defRPr sz="1100" b="1">
                <a:solidFill>
                  <a:srgbClr val="333333"/>
                </a:solidFill>
              </a:defRPr>
            </a:pPr>
            <a:r>
              <a:rPr dirty="0">
                <a:latin typeface="+mn-lt"/>
              </a:rPr>
              <a:t>Risk must be estimated</a:t>
            </a:r>
          </a:p>
          <a:p>
            <a:pPr>
              <a:spcAft>
                <a:spcPts val="0"/>
              </a:spcAft>
              <a:defRPr sz="900" b="0">
                <a:solidFill>
                  <a:srgbClr val="6B6662"/>
                </a:solidFill>
              </a:defRPr>
            </a:pPr>
            <a:r>
              <a:rPr dirty="0">
                <a:latin typeface="+mn-lt"/>
              </a:rPr>
              <a:t>What is this applicant's probability of</a:t>
            </a:r>
            <a:br>
              <a:rPr dirty="0">
                <a:latin typeface="+mn-lt"/>
              </a:rPr>
            </a:br>
            <a:r>
              <a:rPr dirty="0">
                <a:latin typeface="+mn-lt"/>
              </a:rPr>
              <a:t>death within the policy horizon?</a:t>
            </a:r>
          </a:p>
        </p:txBody>
      </p:sp>
      <p:sp>
        <p:nvSpPr>
          <p:cNvPr id="12" name="Rectangle 11"/>
          <p:cNvSpPr/>
          <p:nvPr/>
        </p:nvSpPr>
        <p:spPr>
          <a:xfrm>
            <a:off x="493776" y="3035808"/>
            <a:ext cx="36576" cy="603504"/>
          </a:xfrm>
          <a:prstGeom prst="rect">
            <a:avLst/>
          </a:prstGeom>
          <a:solidFill>
            <a:srgbClr val="E2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10896" y="3675887"/>
            <a:ext cx="402336" cy="402336"/>
          </a:xfrm>
          <a:prstGeom prst="ellipse">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600">
                <a:solidFill>
                  <a:srgbClr val="FFFFFF"/>
                </a:solidFill>
              </a:defRPr>
            </a:pPr>
            <a:r>
              <a:t>⚖</a:t>
            </a:r>
          </a:p>
        </p:txBody>
      </p:sp>
      <p:sp>
        <p:nvSpPr>
          <p:cNvPr id="14" name="TextBox 13"/>
          <p:cNvSpPr txBox="1"/>
          <p:nvPr/>
        </p:nvSpPr>
        <p:spPr>
          <a:xfrm>
            <a:off x="813816" y="3657599"/>
            <a:ext cx="3840480" cy="477567"/>
          </a:xfrm>
          <a:prstGeom prst="rect">
            <a:avLst/>
          </a:prstGeom>
          <a:noFill/>
        </p:spPr>
        <p:txBody>
          <a:bodyPr wrap="square" lIns="18288" tIns="9144" rIns="18288" bIns="9144">
            <a:spAutoFit/>
          </a:bodyPr>
          <a:lstStyle/>
          <a:p>
            <a:pPr>
              <a:spcAft>
                <a:spcPts val="100"/>
              </a:spcAft>
              <a:defRPr sz="1100" b="1">
                <a:solidFill>
                  <a:srgbClr val="333333"/>
                </a:solidFill>
              </a:defRPr>
            </a:pPr>
            <a:r>
              <a:rPr>
                <a:latin typeface="+mn-lt"/>
              </a:rPr>
              <a:t>Decision must be explained</a:t>
            </a:r>
          </a:p>
          <a:p>
            <a:pPr>
              <a:spcAft>
                <a:spcPts val="0"/>
              </a:spcAft>
              <a:defRPr sz="900" b="0">
                <a:solidFill>
                  <a:srgbClr val="6B6662"/>
                </a:solidFill>
              </a:defRPr>
            </a:pPr>
            <a:r>
              <a:rPr>
                <a:latin typeface="+mn-lt"/>
              </a:rPr>
              <a:t>Regulators and applicants are entitled to</a:t>
            </a:r>
            <a:br>
              <a:rPr>
                <a:latin typeface="+mn-lt"/>
              </a:rPr>
            </a:br>
            <a:r>
              <a:rPr>
                <a:latin typeface="+mn-lt"/>
              </a:rPr>
              <a:t>know WHY coverage was denied or priced up</a:t>
            </a:r>
          </a:p>
        </p:txBody>
      </p:sp>
      <p:sp>
        <p:nvSpPr>
          <p:cNvPr id="15" name="TextBox 14"/>
          <p:cNvSpPr txBox="1"/>
          <p:nvPr/>
        </p:nvSpPr>
        <p:spPr>
          <a:xfrm>
            <a:off x="4937760" y="1517904"/>
            <a:ext cx="3886200" cy="203133"/>
          </a:xfrm>
          <a:prstGeom prst="rect">
            <a:avLst/>
          </a:prstGeom>
          <a:noFill/>
        </p:spPr>
        <p:txBody>
          <a:bodyPr wrap="square" lIns="18288" tIns="9144" rIns="18288" bIns="9144">
            <a:spAutoFit/>
          </a:bodyPr>
          <a:lstStyle/>
          <a:p>
            <a:pPr>
              <a:spcAft>
                <a:spcPts val="400"/>
              </a:spcAft>
              <a:defRPr sz="1200" b="1">
                <a:solidFill>
                  <a:srgbClr val="8C3F00"/>
                </a:solidFill>
                <a:latin typeface="Arial Black"/>
              </a:defRPr>
            </a:pPr>
            <a:r>
              <a:rPr>
                <a:latin typeface="+mn-lt"/>
              </a:rPr>
              <a:t>The core tension</a:t>
            </a:r>
          </a:p>
        </p:txBody>
      </p:sp>
      <p:sp>
        <p:nvSpPr>
          <p:cNvPr id="16" name="Rectangle 15"/>
          <p:cNvSpPr/>
          <p:nvPr/>
        </p:nvSpPr>
        <p:spPr>
          <a:xfrm>
            <a:off x="4937760" y="1901952"/>
            <a:ext cx="3886200" cy="694944"/>
          </a:xfrm>
          <a:prstGeom prst="rect">
            <a:avLst/>
          </a:prstGeom>
          <a:solidFill>
            <a:srgbClr val="F7EEE7"/>
          </a:solidFill>
          <a:ln w="15240">
            <a:solidFill>
              <a:srgbClr val="BF5700"/>
            </a:solidFill>
          </a:ln>
          <a:effectLst/>
        </p:spPr>
        <p:style>
          <a:lnRef idx="1">
            <a:schemeClr val="accent1"/>
          </a:lnRef>
          <a:fillRef idx="3">
            <a:schemeClr val="accent1"/>
          </a:fillRef>
          <a:effectRef idx="2">
            <a:schemeClr val="accent1"/>
          </a:effectRef>
          <a:fontRef idx="minor">
            <a:schemeClr val="lt1"/>
          </a:fontRef>
        </p:style>
        <p:txBody>
          <a:bodyPr lIns="109728" tIns="54864" rtlCol="0" anchor="ctr"/>
          <a:lstStyle/>
          <a:p>
            <a:pPr algn="ctr">
              <a:spcAft>
                <a:spcPts val="100"/>
              </a:spcAft>
              <a:defRPr sz="1150" b="1">
                <a:solidFill>
                  <a:srgbClr val="BF5700"/>
                </a:solidFill>
              </a:defRPr>
            </a:pPr>
            <a:r>
              <a:t>Accuracy</a:t>
            </a:r>
          </a:p>
          <a:p>
            <a:pPr>
              <a:spcAft>
                <a:spcPts val="0"/>
              </a:spcAft>
              <a:defRPr sz="950" b="0">
                <a:solidFill>
                  <a:srgbClr val="6B6662"/>
                </a:solidFill>
              </a:defRPr>
            </a:pPr>
            <a:r>
              <a:t>ML captures non-linear interactions a GLM cannot</a:t>
            </a:r>
          </a:p>
        </p:txBody>
      </p:sp>
      <p:sp>
        <p:nvSpPr>
          <p:cNvPr id="17" name="Rectangle 16"/>
          <p:cNvSpPr/>
          <p:nvPr/>
        </p:nvSpPr>
        <p:spPr>
          <a:xfrm>
            <a:off x="4937760" y="2706624"/>
            <a:ext cx="3886200" cy="694944"/>
          </a:xfrm>
          <a:prstGeom prst="rect">
            <a:avLst/>
          </a:prstGeom>
          <a:solidFill>
            <a:srgbClr val="FFFFFF"/>
          </a:solidFill>
          <a:ln w="15240">
            <a:solidFill>
              <a:srgbClr val="8C3F00"/>
            </a:solidFill>
          </a:ln>
          <a:effectLst/>
        </p:spPr>
        <p:style>
          <a:lnRef idx="1">
            <a:schemeClr val="accent1"/>
          </a:lnRef>
          <a:fillRef idx="3">
            <a:schemeClr val="accent1"/>
          </a:fillRef>
          <a:effectRef idx="2">
            <a:schemeClr val="accent1"/>
          </a:effectRef>
          <a:fontRef idx="minor">
            <a:schemeClr val="lt1"/>
          </a:fontRef>
        </p:style>
        <p:txBody>
          <a:bodyPr lIns="109728" tIns="54864" rtlCol="0" anchor="ctr"/>
          <a:lstStyle/>
          <a:p>
            <a:pPr algn="ctr">
              <a:spcAft>
                <a:spcPts val="100"/>
              </a:spcAft>
              <a:defRPr sz="1150" b="1">
                <a:solidFill>
                  <a:srgbClr val="8C3F00"/>
                </a:solidFill>
              </a:defRPr>
            </a:pPr>
            <a:r>
              <a:t>Transparency</a:t>
            </a:r>
          </a:p>
          <a:p>
            <a:pPr>
              <a:spcAft>
                <a:spcPts val="0"/>
              </a:spcAft>
              <a:defRPr sz="950" b="0">
                <a:solidFill>
                  <a:srgbClr val="6B6662"/>
                </a:solidFill>
              </a:defRPr>
            </a:pPr>
            <a:r>
              <a:t>A regulated decision must be explainable line by line</a:t>
            </a:r>
          </a:p>
        </p:txBody>
      </p:sp>
      <p:sp>
        <p:nvSpPr>
          <p:cNvPr id="18" name="TextBox 17"/>
          <p:cNvSpPr txBox="1"/>
          <p:nvPr/>
        </p:nvSpPr>
        <p:spPr>
          <a:xfrm>
            <a:off x="4937760" y="3621024"/>
            <a:ext cx="3886200" cy="480131"/>
          </a:xfrm>
          <a:prstGeom prst="rect">
            <a:avLst/>
          </a:prstGeom>
          <a:noFill/>
        </p:spPr>
        <p:txBody>
          <a:bodyPr wrap="square" lIns="18288" tIns="9144" rIns="18288" bIns="9144">
            <a:spAutoFit/>
          </a:bodyPr>
          <a:lstStyle/>
          <a:p>
            <a:pPr>
              <a:spcAft>
                <a:spcPts val="400"/>
              </a:spcAft>
              <a:defRPr sz="1000" b="0">
                <a:solidFill>
                  <a:srgbClr val="333333"/>
                </a:solidFill>
              </a:defRPr>
            </a:pPr>
            <a:r>
              <a:rPr>
                <a:latin typeface="+mn-lt"/>
              </a:rPr>
              <a:t>This project asks: how much accuracy does transparency actually cost, and can an LLM bridge the gap by writing explainable narratives from a black-box model's output?</a:t>
            </a:r>
          </a:p>
        </p:txBody>
      </p:sp>
      <p:sp>
        <p:nvSpPr>
          <p:cNvPr id="19" name="TextBox 18"/>
          <p:cNvSpPr txBox="1"/>
          <p:nvPr/>
        </p:nvSpPr>
        <p:spPr>
          <a:xfrm>
            <a:off x="274320" y="4754880"/>
            <a:ext cx="8522208" cy="172355"/>
          </a:xfrm>
          <a:prstGeom prst="rect">
            <a:avLst/>
          </a:prstGeom>
          <a:noFill/>
        </p:spPr>
        <p:txBody>
          <a:bodyPr wrap="square" lIns="18288" tIns="9144" rIns="18288" bIns="9144">
            <a:spAutoFit/>
          </a:bodyPr>
          <a:lstStyle/>
          <a:p>
            <a:pPr algn="ctr">
              <a:spcAft>
                <a:spcPts val="400"/>
              </a:spcAft>
              <a:defRPr sz="1000" b="1">
                <a:solidFill>
                  <a:srgbClr val="8C3F00"/>
                </a:solidFill>
              </a:defRPr>
            </a:pPr>
            <a:r>
              <a:rPr>
                <a:latin typeface="+mn-lt"/>
              </a:rPr>
              <a:t>Accurate risk stratification keeps coverage both solvent and accessible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1517904"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INTRODUCTION</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Research Questions</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dirty="0">
                <a:latin typeface="+mn-lt"/>
              </a:rPr>
              <a:t>Four questions, answered in order</a:t>
            </a:r>
          </a:p>
        </p:txBody>
      </p:sp>
      <p:sp>
        <p:nvSpPr>
          <p:cNvPr id="7" name="Oval 6"/>
          <p:cNvSpPr/>
          <p:nvPr/>
        </p:nvSpPr>
        <p:spPr>
          <a:xfrm>
            <a:off x="310896" y="1563624"/>
            <a:ext cx="420624" cy="420624"/>
          </a:xfrm>
          <a:prstGeom prst="ellipse">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spcAft>
                <a:spcPts val="0"/>
              </a:spcAft>
              <a:defRPr sz="950" b="1">
                <a:solidFill>
                  <a:srgbClr val="FFFFFF"/>
                </a:solidFill>
              </a:defRPr>
            </a:pPr>
            <a:r>
              <a:t>RQ1</a:t>
            </a:r>
          </a:p>
        </p:txBody>
      </p:sp>
      <p:sp>
        <p:nvSpPr>
          <p:cNvPr id="8" name="TextBox 7"/>
          <p:cNvSpPr txBox="1"/>
          <p:nvPr/>
        </p:nvSpPr>
        <p:spPr>
          <a:xfrm>
            <a:off x="841248" y="1731081"/>
            <a:ext cx="7955279" cy="195438"/>
          </a:xfrm>
          <a:prstGeom prst="rect">
            <a:avLst/>
          </a:prstGeom>
          <a:noFill/>
        </p:spPr>
        <p:txBody>
          <a:bodyPr wrap="square" lIns="18288" tIns="9144" rIns="18288" bIns="9144" anchor="ctr">
            <a:spAutoFit/>
          </a:bodyPr>
          <a:lstStyle/>
          <a:p>
            <a:pPr>
              <a:spcAft>
                <a:spcPts val="400"/>
              </a:spcAft>
              <a:defRPr sz="1150" b="0">
                <a:solidFill>
                  <a:srgbClr val="333333"/>
                </a:solidFill>
              </a:defRPr>
            </a:pPr>
            <a:r>
              <a:rPr dirty="0">
                <a:latin typeface="+mn-lt"/>
              </a:rPr>
              <a:t>Can ML meaningfully beat a traditional GLM at mortality prediction on public health data?</a:t>
            </a:r>
          </a:p>
        </p:txBody>
      </p:sp>
      <p:sp>
        <p:nvSpPr>
          <p:cNvPr id="9" name="Oval 8"/>
          <p:cNvSpPr/>
          <p:nvPr/>
        </p:nvSpPr>
        <p:spPr>
          <a:xfrm>
            <a:off x="310896" y="2286000"/>
            <a:ext cx="420624" cy="420624"/>
          </a:xfrm>
          <a:prstGeom prst="ellipse">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spcAft>
                <a:spcPts val="0"/>
              </a:spcAft>
              <a:defRPr sz="950" b="1">
                <a:solidFill>
                  <a:srgbClr val="FFFFFF"/>
                </a:solidFill>
              </a:defRPr>
            </a:pPr>
            <a:r>
              <a:t>RQ2</a:t>
            </a:r>
          </a:p>
        </p:txBody>
      </p:sp>
      <p:sp>
        <p:nvSpPr>
          <p:cNvPr id="10" name="TextBox 9"/>
          <p:cNvSpPr txBox="1"/>
          <p:nvPr/>
        </p:nvSpPr>
        <p:spPr>
          <a:xfrm>
            <a:off x="841248" y="2453457"/>
            <a:ext cx="7955279" cy="195438"/>
          </a:xfrm>
          <a:prstGeom prst="rect">
            <a:avLst/>
          </a:prstGeom>
          <a:noFill/>
        </p:spPr>
        <p:txBody>
          <a:bodyPr wrap="square" lIns="18288" tIns="9144" rIns="18288" bIns="9144" anchor="ctr">
            <a:spAutoFit/>
          </a:bodyPr>
          <a:lstStyle/>
          <a:p>
            <a:pPr>
              <a:spcAft>
                <a:spcPts val="400"/>
              </a:spcAft>
              <a:defRPr sz="1150" b="0">
                <a:solidFill>
                  <a:srgbClr val="333333"/>
                </a:solidFill>
              </a:defRPr>
            </a:pPr>
            <a:r>
              <a:rPr>
                <a:latin typeface="+mn-lt"/>
              </a:rPr>
              <a:t>Can post-hoc explainability (SHAP) recover the interpretability underwriting requires?</a:t>
            </a:r>
          </a:p>
        </p:txBody>
      </p:sp>
      <p:sp>
        <p:nvSpPr>
          <p:cNvPr id="11" name="Oval 10"/>
          <p:cNvSpPr/>
          <p:nvPr/>
        </p:nvSpPr>
        <p:spPr>
          <a:xfrm>
            <a:off x="310896" y="3008376"/>
            <a:ext cx="420624" cy="420624"/>
          </a:xfrm>
          <a:prstGeom prst="ellipse">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spcAft>
                <a:spcPts val="0"/>
              </a:spcAft>
              <a:defRPr sz="950" b="1">
                <a:solidFill>
                  <a:srgbClr val="FFFFFF"/>
                </a:solidFill>
              </a:defRPr>
            </a:pPr>
            <a:r>
              <a:t>RQ3</a:t>
            </a:r>
          </a:p>
        </p:txBody>
      </p:sp>
      <p:sp>
        <p:nvSpPr>
          <p:cNvPr id="12" name="TextBox 11"/>
          <p:cNvSpPr txBox="1"/>
          <p:nvPr/>
        </p:nvSpPr>
        <p:spPr>
          <a:xfrm>
            <a:off x="841248" y="3175833"/>
            <a:ext cx="7955279" cy="195438"/>
          </a:xfrm>
          <a:prstGeom prst="rect">
            <a:avLst/>
          </a:prstGeom>
          <a:noFill/>
        </p:spPr>
        <p:txBody>
          <a:bodyPr wrap="square" lIns="18288" tIns="9144" rIns="18288" bIns="9144" anchor="ctr">
            <a:spAutoFit/>
          </a:bodyPr>
          <a:lstStyle/>
          <a:p>
            <a:pPr>
              <a:spcAft>
                <a:spcPts val="400"/>
              </a:spcAft>
              <a:defRPr sz="1150" b="0">
                <a:solidFill>
                  <a:srgbClr val="333333"/>
                </a:solidFill>
              </a:defRPr>
            </a:pPr>
            <a:r>
              <a:rPr>
                <a:latin typeface="+mn-lt"/>
              </a:rPr>
              <a:t>Can an agentic LLM turn model output into a faithful, readable underwriting narrative?</a:t>
            </a:r>
          </a:p>
        </p:txBody>
      </p:sp>
      <p:sp>
        <p:nvSpPr>
          <p:cNvPr id="13" name="Oval 12"/>
          <p:cNvSpPr/>
          <p:nvPr/>
        </p:nvSpPr>
        <p:spPr>
          <a:xfrm>
            <a:off x="310896" y="3730752"/>
            <a:ext cx="420624" cy="420624"/>
          </a:xfrm>
          <a:prstGeom prst="ellipse">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spcAft>
                <a:spcPts val="0"/>
              </a:spcAft>
              <a:defRPr sz="950" b="1">
                <a:solidFill>
                  <a:srgbClr val="FFFFFF"/>
                </a:solidFill>
              </a:defRPr>
            </a:pPr>
            <a:r>
              <a:t>RQ4</a:t>
            </a:r>
          </a:p>
        </p:txBody>
      </p:sp>
      <p:sp>
        <p:nvSpPr>
          <p:cNvPr id="14" name="TextBox 13"/>
          <p:cNvSpPr txBox="1"/>
          <p:nvPr/>
        </p:nvSpPr>
        <p:spPr>
          <a:xfrm>
            <a:off x="841248" y="3898209"/>
            <a:ext cx="7955279" cy="195438"/>
          </a:xfrm>
          <a:prstGeom prst="rect">
            <a:avLst/>
          </a:prstGeom>
          <a:noFill/>
        </p:spPr>
        <p:txBody>
          <a:bodyPr wrap="square" lIns="18288" tIns="9144" rIns="18288" bIns="9144" anchor="ctr">
            <a:spAutoFit/>
          </a:bodyPr>
          <a:lstStyle/>
          <a:p>
            <a:pPr>
              <a:spcAft>
                <a:spcPts val="400"/>
              </a:spcAft>
              <a:defRPr sz="1150" b="0">
                <a:solidFill>
                  <a:srgbClr val="333333"/>
                </a:solidFill>
              </a:defRPr>
            </a:pPr>
            <a:r>
              <a:rPr>
                <a:latin typeface="+mn-lt"/>
              </a:rPr>
              <a:t>Does retrieved clinical literature improve it, and should retrieval be a fixed stage or a skippable tool?</a:t>
            </a:r>
          </a:p>
        </p:txBody>
      </p:sp>
      <p:sp>
        <p:nvSpPr>
          <p:cNvPr id="15" name="Rounded Rectangle 14"/>
          <p:cNvSpPr/>
          <p:nvPr/>
        </p:nvSpPr>
        <p:spPr>
          <a:xfrm>
            <a:off x="310896" y="4443984"/>
            <a:ext cx="8522208" cy="420624"/>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ctr">
              <a:spcAft>
                <a:spcPts val="400"/>
              </a:spcAft>
              <a:defRPr sz="1050" b="1">
                <a:solidFill>
                  <a:srgbClr val="8C3F00"/>
                </a:solidFill>
              </a:defRPr>
            </a:pPr>
            <a:r>
              <a:t>Design constraint throughout:  the LLM explains, it never predicts. The mortality probability comes only from XGBoost.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899160"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RELATED WORK</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dirty="0">
                <a:latin typeface="+mn-lt"/>
              </a:rPr>
              <a:t>Related Work</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dirty="0">
                <a:latin typeface="+mn-lt"/>
              </a:rPr>
              <a:t>Four strands, and where this project departs</a:t>
            </a:r>
          </a:p>
        </p:txBody>
      </p:sp>
      <p:graphicFrame>
        <p:nvGraphicFramePr>
          <p:cNvPr id="7" name="Table 6"/>
          <p:cNvGraphicFramePr>
            <a:graphicFrameLocks noGrp="1"/>
          </p:cNvGraphicFramePr>
          <p:nvPr>
            <p:extLst>
              <p:ext uri="{D42A27DB-BD31-4B8C-83A1-F6EECF244321}">
                <p14:modId xmlns:p14="http://schemas.microsoft.com/office/powerpoint/2010/main" val="379019432"/>
              </p:ext>
            </p:extLst>
          </p:nvPr>
        </p:nvGraphicFramePr>
        <p:xfrm>
          <a:off x="310896" y="1517904"/>
          <a:ext cx="8522208" cy="2971800"/>
        </p:xfrm>
        <a:graphic>
          <a:graphicData uri="http://schemas.openxmlformats.org/drawingml/2006/table">
            <a:tbl>
              <a:tblPr firstRow="1" bandRow="1">
                <a:tableStyleId>{5C22544A-7EE6-4342-B048-85BDC9FD1C3A}</a:tableStyleId>
              </a:tblPr>
              <a:tblGrid>
                <a:gridCol w="2840736">
                  <a:extLst>
                    <a:ext uri="{9D8B030D-6E8A-4147-A177-3AD203B41FA5}">
                      <a16:colId xmlns:a16="http://schemas.microsoft.com/office/drawing/2014/main" val="20000"/>
                    </a:ext>
                  </a:extLst>
                </a:gridCol>
                <a:gridCol w="2840736">
                  <a:extLst>
                    <a:ext uri="{9D8B030D-6E8A-4147-A177-3AD203B41FA5}">
                      <a16:colId xmlns:a16="http://schemas.microsoft.com/office/drawing/2014/main" val="20001"/>
                    </a:ext>
                  </a:extLst>
                </a:gridCol>
                <a:gridCol w="2840736">
                  <a:extLst>
                    <a:ext uri="{9D8B030D-6E8A-4147-A177-3AD203B41FA5}">
                      <a16:colId xmlns:a16="http://schemas.microsoft.com/office/drawing/2014/main" val="20002"/>
                    </a:ext>
                  </a:extLst>
                </a:gridCol>
              </a:tblGrid>
              <a:tr h="594360">
                <a:tc>
                  <a:txBody>
                    <a:bodyPr/>
                    <a:lstStyle/>
                    <a:p>
                      <a:pPr>
                        <a:defRPr sz="900" b="1">
                          <a:solidFill>
                            <a:srgbClr val="FFFFFF"/>
                          </a:solidFill>
                        </a:defRPr>
                      </a:pPr>
                      <a:r>
                        <a:t>Strand</a:t>
                      </a:r>
                    </a:p>
                  </a:txBody>
                  <a:tcPr marL="45720" marR="45720" marT="18288" marB="18288">
                    <a:solidFill>
                      <a:srgbClr val="BF5700"/>
                    </a:solidFill>
                  </a:tcPr>
                </a:tc>
                <a:tc>
                  <a:txBody>
                    <a:bodyPr/>
                    <a:lstStyle/>
                    <a:p>
                      <a:pPr>
                        <a:defRPr sz="900" b="1">
                          <a:solidFill>
                            <a:srgbClr val="FFFFFF"/>
                          </a:solidFill>
                        </a:defRPr>
                      </a:pPr>
                      <a:r>
                        <a:t>What prior work established</a:t>
                      </a:r>
                    </a:p>
                  </a:txBody>
                  <a:tcPr marL="45720" marR="45720" marT="18288" marB="18288">
                    <a:solidFill>
                      <a:srgbClr val="BF5700"/>
                    </a:solidFill>
                  </a:tcPr>
                </a:tc>
                <a:tc>
                  <a:txBody>
                    <a:bodyPr/>
                    <a:lstStyle/>
                    <a:p>
                      <a:pPr>
                        <a:defRPr sz="900" b="1">
                          <a:solidFill>
                            <a:srgbClr val="FFFFFF"/>
                          </a:solidFill>
                        </a:defRPr>
                      </a:pPr>
                      <a:r>
                        <a:t>What I add</a:t>
                      </a:r>
                    </a:p>
                  </a:txBody>
                  <a:tcPr marL="45720" marR="45720" marT="18288" marB="18288">
                    <a:solidFill>
                      <a:srgbClr val="BF5700"/>
                    </a:solidFill>
                  </a:tcPr>
                </a:tc>
                <a:extLst>
                  <a:ext uri="{0D108BD9-81ED-4DB2-BD59-A6C34878D82A}">
                    <a16:rowId xmlns:a16="http://schemas.microsoft.com/office/drawing/2014/main" val="10000"/>
                  </a:ext>
                </a:extLst>
              </a:tr>
              <a:tr h="594360">
                <a:tc>
                  <a:txBody>
                    <a:bodyPr/>
                    <a:lstStyle/>
                    <a:p>
                      <a:pPr>
                        <a:defRPr sz="850" b="0">
                          <a:solidFill>
                            <a:srgbClr val="333333"/>
                          </a:solidFill>
                        </a:defRPr>
                      </a:pPr>
                      <a:r>
                        <a:t>ML on NHANES</a:t>
                      </a:r>
                    </a:p>
                    <a:p>
                      <a:r>
                        <a:t>Weng 2017</a:t>
                      </a:r>
                    </a:p>
                  </a:txBody>
                  <a:tcPr marL="45720" marR="45720" marT="18288" marB="18288">
                    <a:solidFill>
                      <a:srgbClr val="F7EEE7"/>
                    </a:solidFill>
                  </a:tcPr>
                </a:tc>
                <a:tc>
                  <a:txBody>
                    <a:bodyPr/>
                    <a:lstStyle/>
                    <a:p>
                      <a:pPr>
                        <a:defRPr sz="850" b="0">
                          <a:solidFill>
                            <a:srgbClr val="333333"/>
                          </a:solidFill>
                        </a:defRPr>
                      </a:pPr>
                      <a:r>
                        <a:t>Boosted trees and deep nets reach AUROC high-0.80s to low-0.90s; age and kidney markers dominate</a:t>
                      </a:r>
                    </a:p>
                  </a:txBody>
                  <a:tcPr marL="45720" marR="45720" marT="18288" marB="18288">
                    <a:solidFill>
                      <a:srgbClr val="F7EEE7"/>
                    </a:solidFill>
                  </a:tcPr>
                </a:tc>
                <a:tc>
                  <a:txBody>
                    <a:bodyPr/>
                    <a:lstStyle/>
                    <a:p>
                      <a:pPr>
                        <a:defRPr sz="850" b="0">
                          <a:solidFill>
                            <a:srgbClr val="333333"/>
                          </a:solidFill>
                        </a:defRPr>
                      </a:pPr>
                      <a:r>
                        <a:t>Same-footing GLM vs tree vs neural net in one pipeline</a:t>
                      </a:r>
                    </a:p>
                  </a:txBody>
                  <a:tcPr marL="45720" marR="45720" marT="18288" marB="18288">
                    <a:solidFill>
                      <a:srgbClr val="F7EEE7"/>
                    </a:solidFill>
                  </a:tcPr>
                </a:tc>
                <a:extLst>
                  <a:ext uri="{0D108BD9-81ED-4DB2-BD59-A6C34878D82A}">
                    <a16:rowId xmlns:a16="http://schemas.microsoft.com/office/drawing/2014/main" val="10001"/>
                  </a:ext>
                </a:extLst>
              </a:tr>
              <a:tr h="594360">
                <a:tc>
                  <a:txBody>
                    <a:bodyPr/>
                    <a:lstStyle/>
                    <a:p>
                      <a:pPr>
                        <a:defRPr sz="850" b="0">
                          <a:solidFill>
                            <a:srgbClr val="333333"/>
                          </a:solidFill>
                        </a:defRPr>
                      </a:pPr>
                      <a:r>
                        <a:t>Explainable AI</a:t>
                      </a:r>
                    </a:p>
                    <a:p>
                      <a:r>
                        <a:t>Lundberg 2017, 2020</a:t>
                      </a:r>
                    </a:p>
                  </a:txBody>
                  <a:tcPr marL="45720" marR="45720" marT="18288" marB="18288">
                    <a:solidFill>
                      <a:srgbClr val="FFFFFF"/>
                    </a:solidFill>
                  </a:tcPr>
                </a:tc>
                <a:tc>
                  <a:txBody>
                    <a:bodyPr/>
                    <a:lstStyle/>
                    <a:p>
                      <a:pPr>
                        <a:defRPr sz="850" b="0">
                          <a:solidFill>
                            <a:srgbClr val="333333"/>
                          </a:solidFill>
                        </a:defRPr>
                      </a:pPr>
                      <a:r>
                        <a:t>SHAP gives global importance and per-patient local attribution</a:t>
                      </a:r>
                    </a:p>
                  </a:txBody>
                  <a:tcPr marL="45720" marR="45720" marT="18288" marB="18288">
                    <a:solidFill>
                      <a:srgbClr val="FFFFFF"/>
                    </a:solidFill>
                  </a:tcPr>
                </a:tc>
                <a:tc>
                  <a:txBody>
                    <a:bodyPr/>
                    <a:lstStyle/>
                    <a:p>
                      <a:pPr>
                        <a:defRPr sz="850" b="0">
                          <a:solidFill>
                            <a:srgbClr val="333333"/>
                          </a:solidFill>
                        </a:defRPr>
                      </a:pPr>
                      <a:r>
                        <a:t>SHAP output feeds an LLM instead of a plot for a human</a:t>
                      </a:r>
                    </a:p>
                  </a:txBody>
                  <a:tcPr marL="45720" marR="45720" marT="18288" marB="18288">
                    <a:solidFill>
                      <a:srgbClr val="FFFFFF"/>
                    </a:solidFill>
                  </a:tcPr>
                </a:tc>
                <a:extLst>
                  <a:ext uri="{0D108BD9-81ED-4DB2-BD59-A6C34878D82A}">
                    <a16:rowId xmlns:a16="http://schemas.microsoft.com/office/drawing/2014/main" val="10002"/>
                  </a:ext>
                </a:extLst>
              </a:tr>
              <a:tr h="594360">
                <a:tc>
                  <a:txBody>
                    <a:bodyPr/>
                    <a:lstStyle/>
                    <a:p>
                      <a:pPr>
                        <a:defRPr sz="850" b="0">
                          <a:solidFill>
                            <a:srgbClr val="333333"/>
                          </a:solidFill>
                        </a:defRPr>
                      </a:pPr>
                      <a:r>
                        <a:t>Interpretability</a:t>
                      </a:r>
                    </a:p>
                    <a:p>
                      <a:r>
                        <a:t>Rudin 2019</a:t>
                      </a:r>
                    </a:p>
                  </a:txBody>
                  <a:tcPr marL="45720" marR="45720" marT="18288" marB="18288">
                    <a:solidFill>
                      <a:srgbClr val="F7EEE7"/>
                    </a:solidFill>
                  </a:tcPr>
                </a:tc>
                <a:tc>
                  <a:txBody>
                    <a:bodyPr/>
                    <a:lstStyle/>
                    <a:p>
                      <a:pPr>
                        <a:defRPr sz="850" b="0">
                          <a:solidFill>
                            <a:srgbClr val="333333"/>
                          </a:solidFill>
                        </a:defRPr>
                      </a:pPr>
                      <a:r>
                        <a:t>For high-stakes decisions, prefer interpretable models over explaining a black box</a:t>
                      </a:r>
                    </a:p>
                  </a:txBody>
                  <a:tcPr marL="45720" marR="45720" marT="18288" marB="18288">
                    <a:solidFill>
                      <a:srgbClr val="F7EEE7"/>
                    </a:solidFill>
                  </a:tcPr>
                </a:tc>
                <a:tc>
                  <a:txBody>
                    <a:bodyPr/>
                    <a:lstStyle/>
                    <a:p>
                      <a:pPr>
                        <a:defRPr sz="850" b="0">
                          <a:solidFill>
                            <a:srgbClr val="333333"/>
                          </a:solidFill>
                        </a:defRPr>
                      </a:pPr>
                      <a:r>
                        <a:rPr dirty="0"/>
                        <a:t>Empirical test: transparency costs </a:t>
                      </a:r>
                      <a:r>
                        <a:rPr lang="en-US" dirty="0"/>
                        <a:t>minimal</a:t>
                      </a:r>
                      <a:r>
                        <a:rPr dirty="0"/>
                        <a:t> AUROC here</a:t>
                      </a:r>
                    </a:p>
                  </a:txBody>
                  <a:tcPr marL="45720" marR="45720" marT="18288" marB="18288">
                    <a:solidFill>
                      <a:srgbClr val="F7EEE7"/>
                    </a:solidFill>
                  </a:tcPr>
                </a:tc>
                <a:extLst>
                  <a:ext uri="{0D108BD9-81ED-4DB2-BD59-A6C34878D82A}">
                    <a16:rowId xmlns:a16="http://schemas.microsoft.com/office/drawing/2014/main" val="10003"/>
                  </a:ext>
                </a:extLst>
              </a:tr>
              <a:tr h="594360">
                <a:tc>
                  <a:txBody>
                    <a:bodyPr/>
                    <a:lstStyle/>
                    <a:p>
                      <a:pPr>
                        <a:defRPr sz="850" b="0">
                          <a:solidFill>
                            <a:srgbClr val="333333"/>
                          </a:solidFill>
                        </a:defRPr>
                      </a:pPr>
                      <a:r>
                        <a:t>Agents and RAG</a:t>
                      </a:r>
                    </a:p>
                    <a:p>
                      <a:r>
                        <a:t>Yao 2023, Lewis 2020</a:t>
                      </a:r>
                    </a:p>
                  </a:txBody>
                  <a:tcPr marL="45720" marR="45720" marT="18288" marB="18288">
                    <a:solidFill>
                      <a:srgbClr val="FFFFFF"/>
                    </a:solidFill>
                  </a:tcPr>
                </a:tc>
                <a:tc>
                  <a:txBody>
                    <a:bodyPr/>
                    <a:lstStyle/>
                    <a:p>
                      <a:pPr>
                        <a:defRPr sz="850" b="0">
                          <a:solidFill>
                            <a:srgbClr val="333333"/>
                          </a:solidFill>
                        </a:defRPr>
                      </a:pPr>
                      <a:r>
                        <a:t>ReAct interleaves reasoning with tool calls; RAG grounds generation in retrieved text</a:t>
                      </a:r>
                    </a:p>
                  </a:txBody>
                  <a:tcPr marL="45720" marR="45720" marT="18288" marB="18288">
                    <a:solidFill>
                      <a:srgbClr val="FFFFFF"/>
                    </a:solidFill>
                  </a:tcPr>
                </a:tc>
                <a:tc>
                  <a:txBody>
                    <a:bodyPr/>
                    <a:lstStyle/>
                    <a:p>
                      <a:pPr>
                        <a:defRPr sz="850" b="0">
                          <a:solidFill>
                            <a:srgbClr val="333333"/>
                          </a:solidFill>
                        </a:defRPr>
                      </a:pPr>
                      <a:r>
                        <a:rPr dirty="0"/>
                        <a:t>Retrieval as a pipeline stage, not an optional tool</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274320" y="4754880"/>
            <a:ext cx="8522208" cy="172355"/>
          </a:xfrm>
          <a:prstGeom prst="rect">
            <a:avLst/>
          </a:prstGeom>
          <a:noFill/>
        </p:spPr>
        <p:txBody>
          <a:bodyPr wrap="square" lIns="18288" tIns="9144" rIns="18288" bIns="9144">
            <a:spAutoFit/>
          </a:bodyPr>
          <a:lstStyle/>
          <a:p>
            <a:pPr algn="ctr">
              <a:spcAft>
                <a:spcPts val="400"/>
              </a:spcAft>
              <a:defRPr sz="1000" b="1">
                <a:solidFill>
                  <a:srgbClr val="8C3F00"/>
                </a:solidFill>
              </a:defRPr>
            </a:pPr>
            <a:r>
              <a:rPr>
                <a:latin typeface="+mn-lt"/>
              </a:rPr>
              <a:t>10 references in the report, all peer-reviewed venues or official statistical sources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886968"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METHOD</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Dataset and Tools</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a:latin typeface="+mn-lt"/>
              </a:rPr>
              <a:t>Public, documented, fully reproducible</a:t>
            </a:r>
          </a:p>
        </p:txBody>
      </p:sp>
      <p:sp>
        <p:nvSpPr>
          <p:cNvPr id="7" name="TextBox 6"/>
          <p:cNvSpPr txBox="1"/>
          <p:nvPr/>
        </p:nvSpPr>
        <p:spPr>
          <a:xfrm>
            <a:off x="310896" y="1517904"/>
            <a:ext cx="4709160" cy="1331647"/>
          </a:xfrm>
          <a:prstGeom prst="rect">
            <a:avLst/>
          </a:prstGeom>
          <a:noFill/>
        </p:spPr>
        <p:txBody>
          <a:bodyPr wrap="square" lIns="18288" tIns="9144" rIns="18288" bIns="9144">
            <a:spAutoFit/>
          </a:bodyPr>
          <a:lstStyle/>
          <a:p>
            <a:pPr>
              <a:spcAft>
                <a:spcPts val="500"/>
              </a:spcAft>
              <a:defRPr sz="1050" b="0">
                <a:solidFill>
                  <a:srgbClr val="333333"/>
                </a:solidFill>
              </a:defRPr>
            </a:pPr>
            <a:r>
              <a:rPr dirty="0">
                <a:latin typeface="+mn-lt"/>
              </a:rPr>
              <a:t>•  NHANES 2007-08, 2009-10, 2011-12 linked to the CDC public-use Linked Mortality File, follow-up to 31 Dec 2019.</a:t>
            </a:r>
          </a:p>
          <a:p>
            <a:pPr>
              <a:spcAft>
                <a:spcPts val="100"/>
              </a:spcAft>
              <a:defRPr sz="900" b="0">
                <a:solidFill>
                  <a:srgbClr val="6B6662"/>
                </a:solidFill>
              </a:defRPr>
            </a:pPr>
            <a:r>
              <a:rPr dirty="0">
                <a:latin typeface="+mn-lt"/>
              </a:rPr>
              <a:t>–  Older cycles on purpose: 7-12 years of follow-up yields enough observed deaths to learn from</a:t>
            </a:r>
          </a:p>
          <a:p>
            <a:pPr>
              <a:spcAft>
                <a:spcPts val="500"/>
              </a:spcAft>
              <a:defRPr sz="1050" b="0">
                <a:solidFill>
                  <a:srgbClr val="333333"/>
                </a:solidFill>
              </a:defRPr>
            </a:pPr>
            <a:r>
              <a:rPr dirty="0">
                <a:latin typeface="+mn-lt"/>
              </a:rPr>
              <a:t>•  Joined on SEQN; mortality-eligible adults, age 18+.</a:t>
            </a:r>
          </a:p>
          <a:p>
            <a:pPr>
              <a:spcAft>
                <a:spcPts val="500"/>
              </a:spcAft>
              <a:defRPr sz="1050" b="0">
                <a:solidFill>
                  <a:srgbClr val="333333"/>
                </a:solidFill>
              </a:defRPr>
            </a:pPr>
            <a:r>
              <a:rPr dirty="0">
                <a:latin typeface="+mn-lt"/>
              </a:rPr>
              <a:t>•  Stratified 80/20 split: 14,862 train / 3,716 test.</a:t>
            </a:r>
          </a:p>
          <a:p>
            <a:pPr>
              <a:spcAft>
                <a:spcPts val="500"/>
              </a:spcAft>
              <a:defRPr sz="1050" b="0">
                <a:solidFill>
                  <a:srgbClr val="333333"/>
                </a:solidFill>
              </a:defRPr>
            </a:pPr>
            <a:r>
              <a:rPr dirty="0">
                <a:latin typeface="+mn-lt"/>
              </a:rPr>
              <a:t>•  Local stack only: scikit-learn, XGBoost, PyTorch, SHAP, </a:t>
            </a:r>
            <a:r>
              <a:rPr dirty="0" err="1">
                <a:latin typeface="+mn-lt"/>
              </a:rPr>
              <a:t>LangGraph</a:t>
            </a:r>
            <a:r>
              <a:rPr dirty="0">
                <a:latin typeface="+mn-lt"/>
              </a:rPr>
              <a:t>, </a:t>
            </a:r>
            <a:r>
              <a:rPr dirty="0" err="1">
                <a:latin typeface="+mn-lt"/>
              </a:rPr>
              <a:t>Ollama</a:t>
            </a:r>
            <a:r>
              <a:rPr dirty="0">
                <a:latin typeface="+mn-lt"/>
              </a:rPr>
              <a:t> (</a:t>
            </a:r>
            <a:r>
              <a:rPr lang="en-US" sz="1050" dirty="0"/>
              <a:t>nomic-embed-text, </a:t>
            </a:r>
            <a:r>
              <a:rPr dirty="0">
                <a:latin typeface="+mn-lt"/>
              </a:rPr>
              <a:t>Qwen 2.5 7B), </a:t>
            </a:r>
            <a:r>
              <a:rPr dirty="0" err="1">
                <a:latin typeface="+mn-lt"/>
              </a:rPr>
              <a:t>ChromaDB</a:t>
            </a:r>
            <a:r>
              <a:rPr dirty="0">
                <a:latin typeface="+mn-lt"/>
              </a:rPr>
              <a:t>, </a:t>
            </a:r>
            <a:r>
              <a:rPr dirty="0" err="1">
                <a:latin typeface="+mn-lt"/>
              </a:rPr>
              <a:t>Gradio</a:t>
            </a:r>
            <a:r>
              <a:rPr dirty="0">
                <a:latin typeface="+mn-lt"/>
              </a:rPr>
              <a:t>. No external API.</a:t>
            </a:r>
          </a:p>
        </p:txBody>
      </p:sp>
      <p:sp>
        <p:nvSpPr>
          <p:cNvPr id="8" name="Rounded Rectangle 7"/>
          <p:cNvSpPr/>
          <p:nvPr/>
        </p:nvSpPr>
        <p:spPr>
          <a:xfrm>
            <a:off x="327829" y="3056979"/>
            <a:ext cx="2103120" cy="713232"/>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rPr dirty="0"/>
              <a:t>18,578</a:t>
            </a:r>
          </a:p>
          <a:p>
            <a:pPr algn="ctr">
              <a:spcAft>
                <a:spcPts val="0"/>
              </a:spcAft>
              <a:defRPr sz="850" b="0">
                <a:solidFill>
                  <a:srgbClr val="6B6662"/>
                </a:solidFill>
              </a:defRPr>
            </a:pPr>
            <a:r>
              <a:rPr dirty="0"/>
              <a:t>adults</a:t>
            </a:r>
          </a:p>
        </p:txBody>
      </p:sp>
      <p:sp>
        <p:nvSpPr>
          <p:cNvPr id="9" name="Rounded Rectangle 8"/>
          <p:cNvSpPr/>
          <p:nvPr/>
        </p:nvSpPr>
        <p:spPr>
          <a:xfrm>
            <a:off x="2568109" y="3056979"/>
            <a:ext cx="2103120" cy="713232"/>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84</a:t>
            </a:r>
          </a:p>
          <a:p>
            <a:pPr algn="ctr">
              <a:spcAft>
                <a:spcPts val="0"/>
              </a:spcAft>
              <a:defRPr sz="850" b="0">
                <a:solidFill>
                  <a:srgbClr val="6B6662"/>
                </a:solidFill>
              </a:defRPr>
            </a:pPr>
            <a:r>
              <a:t>features</a:t>
            </a:r>
          </a:p>
        </p:txBody>
      </p:sp>
      <p:sp>
        <p:nvSpPr>
          <p:cNvPr id="10" name="Rounded Rectangle 9"/>
          <p:cNvSpPr/>
          <p:nvPr/>
        </p:nvSpPr>
        <p:spPr>
          <a:xfrm>
            <a:off x="327829" y="3834220"/>
            <a:ext cx="2103120" cy="713232"/>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14%</a:t>
            </a:r>
          </a:p>
          <a:p>
            <a:pPr algn="ctr">
              <a:spcAft>
                <a:spcPts val="0"/>
              </a:spcAft>
              <a:defRPr sz="850" b="0">
                <a:solidFill>
                  <a:srgbClr val="6B6662"/>
                </a:solidFill>
              </a:defRPr>
            </a:pPr>
            <a:r>
              <a:t>mortality rate</a:t>
            </a:r>
          </a:p>
        </p:txBody>
      </p:sp>
      <p:sp>
        <p:nvSpPr>
          <p:cNvPr id="11" name="Rounded Rectangle 10"/>
          <p:cNvSpPr/>
          <p:nvPr/>
        </p:nvSpPr>
        <p:spPr>
          <a:xfrm>
            <a:off x="2568109" y="3834220"/>
            <a:ext cx="2103120" cy="713232"/>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100%</a:t>
            </a:r>
          </a:p>
          <a:p>
            <a:pPr algn="ctr">
              <a:spcAft>
                <a:spcPts val="0"/>
              </a:spcAft>
              <a:defRPr sz="850" b="0">
                <a:solidFill>
                  <a:srgbClr val="6B6662"/>
                </a:solidFill>
              </a:defRPr>
            </a:pPr>
            <a:r>
              <a:t>runs offline</a:t>
            </a:r>
          </a:p>
        </p:txBody>
      </p:sp>
      <p:pic>
        <p:nvPicPr>
          <p:cNvPr id="12" name="Picture 11" descr="class_imbalance.png"/>
          <p:cNvPicPr>
            <a:picLocks noChangeAspect="1"/>
          </p:cNvPicPr>
          <p:nvPr/>
        </p:nvPicPr>
        <p:blipFill>
          <a:blip r:embed="rId3"/>
          <a:stretch>
            <a:fillRect/>
          </a:stretch>
        </p:blipFill>
        <p:spPr>
          <a:xfrm>
            <a:off x="5129785" y="1912729"/>
            <a:ext cx="3785615" cy="1367849"/>
          </a:xfrm>
          <a:prstGeom prst="rect">
            <a:avLst/>
          </a:prstGeom>
          <a:ln w="9525">
            <a:solidFill>
              <a:srgbClr val="E2D8CF"/>
            </a:solidFill>
          </a:ln>
        </p:spPr>
      </p:pic>
      <p:sp>
        <p:nvSpPr>
          <p:cNvPr id="13" name="TextBox 12"/>
          <p:cNvSpPr txBox="1"/>
          <p:nvPr/>
        </p:nvSpPr>
        <p:spPr>
          <a:xfrm>
            <a:off x="274320" y="4754880"/>
            <a:ext cx="8522208" cy="172355"/>
          </a:xfrm>
          <a:prstGeom prst="rect">
            <a:avLst/>
          </a:prstGeom>
          <a:noFill/>
        </p:spPr>
        <p:txBody>
          <a:bodyPr wrap="square" lIns="18288" tIns="9144" rIns="18288" bIns="9144">
            <a:spAutoFit/>
          </a:bodyPr>
          <a:lstStyle/>
          <a:p>
            <a:pPr algn="ctr">
              <a:spcAft>
                <a:spcPts val="400"/>
              </a:spcAft>
              <a:defRPr sz="1000" b="1">
                <a:solidFill>
                  <a:srgbClr val="8C3F00"/>
                </a:solidFill>
              </a:defRPr>
            </a:pPr>
            <a:r>
              <a:rPr>
                <a:latin typeface="+mn-lt"/>
              </a:rPr>
              <a:t>Class imbalance (14% deceased) drove every training choice: class weighting and PR-AUC early stopping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886968"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METHOD</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End-to-End Architecture</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a:latin typeface="+mn-lt"/>
              </a:rPr>
              <a:t>Prediction, explanation and narrative are separate stages by design</a:t>
            </a:r>
          </a:p>
        </p:txBody>
      </p:sp>
      <p:pic>
        <p:nvPicPr>
          <p:cNvPr id="7" name="Picture 6" descr="Architecture.png"/>
          <p:cNvPicPr>
            <a:picLocks noChangeAspect="1"/>
          </p:cNvPicPr>
          <p:nvPr/>
        </p:nvPicPr>
        <p:blipFill>
          <a:blip r:embed="rId3"/>
          <a:stretch>
            <a:fillRect/>
          </a:stretch>
        </p:blipFill>
        <p:spPr>
          <a:xfrm>
            <a:off x="1567891" y="1578487"/>
            <a:ext cx="6008217" cy="2464308"/>
          </a:xfrm>
          <a:prstGeom prst="rect">
            <a:avLst/>
          </a:prstGeom>
        </p:spPr>
      </p:pic>
      <p:sp>
        <p:nvSpPr>
          <p:cNvPr id="8" name="Chevron 7"/>
          <p:cNvSpPr/>
          <p:nvPr/>
        </p:nvSpPr>
        <p:spPr>
          <a:xfrm>
            <a:off x="819408" y="4365100"/>
            <a:ext cx="1399028" cy="626364"/>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lang="en-US" dirty="0"/>
              <a:t>Collect Data</a:t>
            </a:r>
            <a:endParaRPr dirty="0"/>
          </a:p>
        </p:txBody>
      </p:sp>
      <p:sp>
        <p:nvSpPr>
          <p:cNvPr id="9" name="Chevron 8"/>
          <p:cNvSpPr/>
          <p:nvPr/>
        </p:nvSpPr>
        <p:spPr>
          <a:xfrm>
            <a:off x="2165486" y="4364143"/>
            <a:ext cx="1352900" cy="626364"/>
          </a:xfrm>
          <a:prstGeom prst="chevron">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lang="en-US" dirty="0"/>
              <a:t>Feature Extraction, engineering and RAG indexing</a:t>
            </a:r>
            <a:endParaRPr dirty="0"/>
          </a:p>
        </p:txBody>
      </p:sp>
      <p:sp>
        <p:nvSpPr>
          <p:cNvPr id="10" name="Chevron 9"/>
          <p:cNvSpPr/>
          <p:nvPr/>
        </p:nvSpPr>
        <p:spPr>
          <a:xfrm>
            <a:off x="3388866" y="4378756"/>
            <a:ext cx="1399028" cy="626364"/>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lang="en-US" dirty="0"/>
              <a:t>Train GLM, NN, &amp; XGBoost models and predict</a:t>
            </a:r>
            <a:endParaRPr dirty="0"/>
          </a:p>
        </p:txBody>
      </p:sp>
      <p:sp>
        <p:nvSpPr>
          <p:cNvPr id="11" name="Chevron 10"/>
          <p:cNvSpPr/>
          <p:nvPr/>
        </p:nvSpPr>
        <p:spPr>
          <a:xfrm>
            <a:off x="4670735" y="4378756"/>
            <a:ext cx="1299950" cy="611752"/>
          </a:xfrm>
          <a:prstGeom prst="chevron">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lang="en-US" dirty="0"/>
              <a:t>SHAP Explanation and </a:t>
            </a:r>
            <a:r>
              <a:rPr dirty="0"/>
              <a:t>Retrieved literature</a:t>
            </a:r>
          </a:p>
        </p:txBody>
      </p:sp>
      <p:sp>
        <p:nvSpPr>
          <p:cNvPr id="13" name="Chevron 9">
            <a:extLst>
              <a:ext uri="{FF2B5EF4-FFF2-40B4-BE49-F238E27FC236}">
                <a16:creationId xmlns:a16="http://schemas.microsoft.com/office/drawing/2014/main" id="{F1BBA60E-D3D9-C7AE-038E-B6394886EC64}"/>
              </a:ext>
            </a:extLst>
          </p:cNvPr>
          <p:cNvSpPr/>
          <p:nvPr/>
        </p:nvSpPr>
        <p:spPr>
          <a:xfrm>
            <a:off x="5863772" y="4384137"/>
            <a:ext cx="1259263" cy="626364"/>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lang="en-US" dirty="0"/>
              <a:t>Agentic orchestration and tool calls</a:t>
            </a:r>
            <a:endParaRPr dirty="0"/>
          </a:p>
        </p:txBody>
      </p:sp>
      <p:sp>
        <p:nvSpPr>
          <p:cNvPr id="15" name="Chevron 10">
            <a:extLst>
              <a:ext uri="{FF2B5EF4-FFF2-40B4-BE49-F238E27FC236}">
                <a16:creationId xmlns:a16="http://schemas.microsoft.com/office/drawing/2014/main" id="{675DEAA7-407F-7AEB-DDFC-36F1784FA4ED}"/>
              </a:ext>
            </a:extLst>
          </p:cNvPr>
          <p:cNvSpPr/>
          <p:nvPr/>
        </p:nvSpPr>
        <p:spPr>
          <a:xfrm>
            <a:off x="7046466" y="4405576"/>
            <a:ext cx="1299950" cy="584932"/>
          </a:xfrm>
          <a:prstGeom prst="chevron">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rPr lang="en-US" dirty="0"/>
              <a:t>Generate Human readable Under writing report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992124"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RESULTS</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Interpretable Models Stayed Competitive</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dirty="0">
                <a:latin typeface="+mn-lt"/>
              </a:rPr>
              <a:t>Held-out test set, n = 3,716</a:t>
            </a:r>
          </a:p>
        </p:txBody>
      </p:sp>
      <p:graphicFrame>
        <p:nvGraphicFramePr>
          <p:cNvPr id="7" name="Table 6"/>
          <p:cNvGraphicFramePr>
            <a:graphicFrameLocks noGrp="1"/>
          </p:cNvGraphicFramePr>
          <p:nvPr/>
        </p:nvGraphicFramePr>
        <p:xfrm>
          <a:off x="310896" y="1517904"/>
          <a:ext cx="4160520" cy="1299972"/>
        </p:xfrm>
        <a:graphic>
          <a:graphicData uri="http://schemas.openxmlformats.org/drawingml/2006/table">
            <a:tbl>
              <a:tblPr firstRow="1" bandRow="1">
                <a:tableStyleId>{5C22544A-7EE6-4342-B048-85BDC9FD1C3A}</a:tableStyleId>
              </a:tblPr>
              <a:tblGrid>
                <a:gridCol w="1040130">
                  <a:extLst>
                    <a:ext uri="{9D8B030D-6E8A-4147-A177-3AD203B41FA5}">
                      <a16:colId xmlns:a16="http://schemas.microsoft.com/office/drawing/2014/main" val="20000"/>
                    </a:ext>
                  </a:extLst>
                </a:gridCol>
                <a:gridCol w="1040130">
                  <a:extLst>
                    <a:ext uri="{9D8B030D-6E8A-4147-A177-3AD203B41FA5}">
                      <a16:colId xmlns:a16="http://schemas.microsoft.com/office/drawing/2014/main" val="20001"/>
                    </a:ext>
                  </a:extLst>
                </a:gridCol>
                <a:gridCol w="1040130">
                  <a:extLst>
                    <a:ext uri="{9D8B030D-6E8A-4147-A177-3AD203B41FA5}">
                      <a16:colId xmlns:a16="http://schemas.microsoft.com/office/drawing/2014/main" val="20002"/>
                    </a:ext>
                  </a:extLst>
                </a:gridCol>
                <a:gridCol w="1040130">
                  <a:extLst>
                    <a:ext uri="{9D8B030D-6E8A-4147-A177-3AD203B41FA5}">
                      <a16:colId xmlns:a16="http://schemas.microsoft.com/office/drawing/2014/main" val="20003"/>
                    </a:ext>
                  </a:extLst>
                </a:gridCol>
              </a:tblGrid>
              <a:tr h="308610">
                <a:tc>
                  <a:txBody>
                    <a:bodyPr/>
                    <a:lstStyle/>
                    <a:p>
                      <a:pPr>
                        <a:defRPr sz="1000" b="1">
                          <a:solidFill>
                            <a:srgbClr val="FFFFFF"/>
                          </a:solidFill>
                        </a:defRPr>
                      </a:pPr>
                      <a:r>
                        <a:t>Model</a:t>
                      </a:r>
                    </a:p>
                  </a:txBody>
                  <a:tcPr marL="45720" marR="45720" marT="18288" marB="18288">
                    <a:solidFill>
                      <a:srgbClr val="BF5700"/>
                    </a:solidFill>
                  </a:tcPr>
                </a:tc>
                <a:tc>
                  <a:txBody>
                    <a:bodyPr/>
                    <a:lstStyle/>
                    <a:p>
                      <a:pPr>
                        <a:defRPr sz="1000" b="1">
                          <a:solidFill>
                            <a:srgbClr val="FFFFFF"/>
                          </a:solidFill>
                        </a:defRPr>
                      </a:pPr>
                      <a:r>
                        <a:t>AUROC</a:t>
                      </a:r>
                    </a:p>
                  </a:txBody>
                  <a:tcPr marL="45720" marR="45720" marT="18288" marB="18288">
                    <a:solidFill>
                      <a:srgbClr val="BF5700"/>
                    </a:solidFill>
                  </a:tcPr>
                </a:tc>
                <a:tc>
                  <a:txBody>
                    <a:bodyPr/>
                    <a:lstStyle/>
                    <a:p>
                      <a:pPr>
                        <a:defRPr sz="1000" b="1">
                          <a:solidFill>
                            <a:srgbClr val="FFFFFF"/>
                          </a:solidFill>
                        </a:defRPr>
                      </a:pPr>
                      <a:r>
                        <a:t>PR-AUC</a:t>
                      </a:r>
                    </a:p>
                  </a:txBody>
                  <a:tcPr marL="45720" marR="45720" marT="18288" marB="18288">
                    <a:solidFill>
                      <a:srgbClr val="BF5700"/>
                    </a:solidFill>
                  </a:tcPr>
                </a:tc>
                <a:tc>
                  <a:txBody>
                    <a:bodyPr/>
                    <a:lstStyle/>
                    <a:p>
                      <a:pPr>
                        <a:defRPr sz="1000" b="1">
                          <a:solidFill>
                            <a:srgbClr val="FFFFFF"/>
                          </a:solidFill>
                        </a:defRPr>
                      </a:pPr>
                      <a:r>
                        <a:t>F1</a:t>
                      </a:r>
                    </a:p>
                  </a:txBody>
                  <a:tcPr marL="45720" marR="45720" marT="18288" marB="18288">
                    <a:solidFill>
                      <a:srgbClr val="BF5700"/>
                    </a:solidFill>
                  </a:tcPr>
                </a:tc>
                <a:extLst>
                  <a:ext uri="{0D108BD9-81ED-4DB2-BD59-A6C34878D82A}">
                    <a16:rowId xmlns:a16="http://schemas.microsoft.com/office/drawing/2014/main" val="10000"/>
                  </a:ext>
                </a:extLst>
              </a:tr>
              <a:tr h="308610">
                <a:tc>
                  <a:txBody>
                    <a:bodyPr/>
                    <a:lstStyle/>
                    <a:p>
                      <a:pPr>
                        <a:defRPr sz="1000" b="0">
                          <a:solidFill>
                            <a:srgbClr val="333333"/>
                          </a:solidFill>
                        </a:defRPr>
                      </a:pPr>
                      <a:r>
                        <a:t>XGBoost  (best)</a:t>
                      </a:r>
                    </a:p>
                  </a:txBody>
                  <a:tcPr marL="45720" marR="45720" marT="18288" marB="18288">
                    <a:solidFill>
                      <a:srgbClr val="F7EEE7"/>
                    </a:solidFill>
                  </a:tcPr>
                </a:tc>
                <a:tc>
                  <a:txBody>
                    <a:bodyPr/>
                    <a:lstStyle/>
                    <a:p>
                      <a:pPr>
                        <a:defRPr sz="1000" b="0">
                          <a:solidFill>
                            <a:srgbClr val="333333"/>
                          </a:solidFill>
                        </a:defRPr>
                      </a:pPr>
                      <a:r>
                        <a:t>0.907</a:t>
                      </a:r>
                    </a:p>
                  </a:txBody>
                  <a:tcPr marL="45720" marR="45720" marT="18288" marB="18288">
                    <a:solidFill>
                      <a:srgbClr val="F7EEE7"/>
                    </a:solidFill>
                  </a:tcPr>
                </a:tc>
                <a:tc>
                  <a:txBody>
                    <a:bodyPr/>
                    <a:lstStyle/>
                    <a:p>
                      <a:pPr>
                        <a:defRPr sz="1000" b="0">
                          <a:solidFill>
                            <a:srgbClr val="333333"/>
                          </a:solidFill>
                        </a:defRPr>
                      </a:pPr>
                      <a:r>
                        <a:t>0.663</a:t>
                      </a:r>
                    </a:p>
                  </a:txBody>
                  <a:tcPr marL="45720" marR="45720" marT="18288" marB="18288">
                    <a:solidFill>
                      <a:srgbClr val="F7EEE7"/>
                    </a:solidFill>
                  </a:tcPr>
                </a:tc>
                <a:tc>
                  <a:txBody>
                    <a:bodyPr/>
                    <a:lstStyle/>
                    <a:p>
                      <a:pPr>
                        <a:defRPr sz="1000" b="0">
                          <a:solidFill>
                            <a:srgbClr val="333333"/>
                          </a:solidFill>
                        </a:defRPr>
                      </a:pPr>
                      <a:r>
                        <a:t>0.613</a:t>
                      </a:r>
                    </a:p>
                  </a:txBody>
                  <a:tcPr marL="45720" marR="45720" marT="18288" marB="18288">
                    <a:solidFill>
                      <a:srgbClr val="F7EEE7"/>
                    </a:solidFill>
                  </a:tcPr>
                </a:tc>
                <a:extLst>
                  <a:ext uri="{0D108BD9-81ED-4DB2-BD59-A6C34878D82A}">
                    <a16:rowId xmlns:a16="http://schemas.microsoft.com/office/drawing/2014/main" val="10001"/>
                  </a:ext>
                </a:extLst>
              </a:tr>
              <a:tr h="308610">
                <a:tc>
                  <a:txBody>
                    <a:bodyPr/>
                    <a:lstStyle/>
                    <a:p>
                      <a:pPr>
                        <a:defRPr sz="1000" b="0">
                          <a:solidFill>
                            <a:srgbClr val="333333"/>
                          </a:solidFill>
                        </a:defRPr>
                      </a:pPr>
                      <a:r>
                        <a:t>GLM - Logistic Regression</a:t>
                      </a:r>
                    </a:p>
                  </a:txBody>
                  <a:tcPr marL="45720" marR="45720" marT="18288" marB="18288">
                    <a:solidFill>
                      <a:srgbClr val="FFFFFF"/>
                    </a:solidFill>
                  </a:tcPr>
                </a:tc>
                <a:tc>
                  <a:txBody>
                    <a:bodyPr/>
                    <a:lstStyle/>
                    <a:p>
                      <a:pPr>
                        <a:defRPr sz="1000" b="0">
                          <a:solidFill>
                            <a:srgbClr val="333333"/>
                          </a:solidFill>
                        </a:defRPr>
                      </a:pPr>
                      <a:r>
                        <a:t>0.904</a:t>
                      </a:r>
                    </a:p>
                  </a:txBody>
                  <a:tcPr marL="45720" marR="45720" marT="18288" marB="18288">
                    <a:solidFill>
                      <a:srgbClr val="FFFFFF"/>
                    </a:solidFill>
                  </a:tcPr>
                </a:tc>
                <a:tc>
                  <a:txBody>
                    <a:bodyPr/>
                    <a:lstStyle/>
                    <a:p>
                      <a:pPr>
                        <a:defRPr sz="1000" b="0">
                          <a:solidFill>
                            <a:srgbClr val="333333"/>
                          </a:solidFill>
                        </a:defRPr>
                      </a:pPr>
                      <a:r>
                        <a:t>0.649</a:t>
                      </a:r>
                    </a:p>
                  </a:txBody>
                  <a:tcPr marL="45720" marR="45720" marT="18288" marB="18288">
                    <a:solidFill>
                      <a:srgbClr val="FFFFFF"/>
                    </a:solidFill>
                  </a:tcPr>
                </a:tc>
                <a:tc>
                  <a:txBody>
                    <a:bodyPr/>
                    <a:lstStyle/>
                    <a:p>
                      <a:pPr>
                        <a:defRPr sz="1000" b="0">
                          <a:solidFill>
                            <a:srgbClr val="333333"/>
                          </a:solidFill>
                        </a:defRPr>
                      </a:pPr>
                      <a:r>
                        <a:t>0.579</a:t>
                      </a:r>
                    </a:p>
                  </a:txBody>
                  <a:tcPr marL="45720" marR="45720" marT="18288" marB="18288">
                    <a:solidFill>
                      <a:srgbClr val="FFFFFF"/>
                    </a:solidFill>
                  </a:tcPr>
                </a:tc>
                <a:extLst>
                  <a:ext uri="{0D108BD9-81ED-4DB2-BD59-A6C34878D82A}">
                    <a16:rowId xmlns:a16="http://schemas.microsoft.com/office/drawing/2014/main" val="10002"/>
                  </a:ext>
                </a:extLst>
              </a:tr>
              <a:tr h="308610">
                <a:tc>
                  <a:txBody>
                    <a:bodyPr/>
                    <a:lstStyle/>
                    <a:p>
                      <a:pPr>
                        <a:defRPr sz="1000" b="0">
                          <a:solidFill>
                            <a:srgbClr val="333333"/>
                          </a:solidFill>
                        </a:defRPr>
                      </a:pPr>
                      <a:r>
                        <a:t>Neural Network (MLP)</a:t>
                      </a:r>
                    </a:p>
                  </a:txBody>
                  <a:tcPr marL="45720" marR="45720" marT="18288" marB="18288">
                    <a:solidFill>
                      <a:srgbClr val="F7EEE7"/>
                    </a:solidFill>
                  </a:tcPr>
                </a:tc>
                <a:tc>
                  <a:txBody>
                    <a:bodyPr/>
                    <a:lstStyle/>
                    <a:p>
                      <a:pPr>
                        <a:defRPr sz="1000" b="0">
                          <a:solidFill>
                            <a:srgbClr val="333333"/>
                          </a:solidFill>
                        </a:defRPr>
                      </a:pPr>
                      <a:r>
                        <a:rPr dirty="0"/>
                        <a:t>0.903</a:t>
                      </a:r>
                    </a:p>
                  </a:txBody>
                  <a:tcPr marL="45720" marR="45720" marT="18288" marB="18288">
                    <a:solidFill>
                      <a:srgbClr val="F7EEE7"/>
                    </a:solidFill>
                  </a:tcPr>
                </a:tc>
                <a:tc>
                  <a:txBody>
                    <a:bodyPr/>
                    <a:lstStyle/>
                    <a:p>
                      <a:pPr>
                        <a:defRPr sz="1000" b="0">
                          <a:solidFill>
                            <a:srgbClr val="333333"/>
                          </a:solidFill>
                        </a:defRPr>
                      </a:pPr>
                      <a:r>
                        <a:t>0.653</a:t>
                      </a:r>
                    </a:p>
                  </a:txBody>
                  <a:tcPr marL="45720" marR="45720" marT="18288" marB="18288">
                    <a:solidFill>
                      <a:srgbClr val="F7EEE7"/>
                    </a:solidFill>
                  </a:tcPr>
                </a:tc>
                <a:tc>
                  <a:txBody>
                    <a:bodyPr/>
                    <a:lstStyle/>
                    <a:p>
                      <a:pPr>
                        <a:defRPr sz="1000" b="0">
                          <a:solidFill>
                            <a:srgbClr val="333333"/>
                          </a:solidFill>
                        </a:defRPr>
                      </a:pPr>
                      <a:r>
                        <a:rPr dirty="0"/>
                        <a:t>0.560</a:t>
                      </a:r>
                    </a:p>
                  </a:txBody>
                  <a:tcPr marL="45720" marR="45720" marT="18288" marB="18288">
                    <a:solidFill>
                      <a:srgbClr val="F7EEE7"/>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310895" y="2949846"/>
            <a:ext cx="2011680" cy="731520"/>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rPr dirty="0"/>
              <a:t>+0.003</a:t>
            </a:r>
          </a:p>
          <a:p>
            <a:pPr algn="ctr">
              <a:spcAft>
                <a:spcPts val="0"/>
              </a:spcAft>
              <a:defRPr sz="850" b="0">
                <a:solidFill>
                  <a:srgbClr val="6B6662"/>
                </a:solidFill>
              </a:defRPr>
            </a:pPr>
            <a:r>
              <a:rPr dirty="0"/>
              <a:t>XGBoost AUROC gain over the GLM</a:t>
            </a:r>
          </a:p>
        </p:txBody>
      </p:sp>
      <p:sp>
        <p:nvSpPr>
          <p:cNvPr id="9" name="Rounded Rectangle 8"/>
          <p:cNvSpPr/>
          <p:nvPr/>
        </p:nvSpPr>
        <p:spPr>
          <a:xfrm>
            <a:off x="2459735" y="2949846"/>
            <a:ext cx="2011680" cy="731520"/>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0.907</a:t>
            </a:r>
          </a:p>
          <a:p>
            <a:pPr algn="ctr">
              <a:spcAft>
                <a:spcPts val="0"/>
              </a:spcAft>
              <a:defRPr sz="850" b="0">
                <a:solidFill>
                  <a:srgbClr val="6B6662"/>
                </a:solidFill>
              </a:defRPr>
            </a:pPr>
            <a:r>
              <a:t>best AUROC achieved</a:t>
            </a:r>
          </a:p>
        </p:txBody>
      </p:sp>
      <p:sp>
        <p:nvSpPr>
          <p:cNvPr id="10" name="TextBox 9"/>
          <p:cNvSpPr txBox="1"/>
          <p:nvPr/>
        </p:nvSpPr>
        <p:spPr>
          <a:xfrm>
            <a:off x="292608" y="3817571"/>
            <a:ext cx="4160520" cy="505779"/>
          </a:xfrm>
          <a:prstGeom prst="rect">
            <a:avLst/>
          </a:prstGeom>
          <a:noFill/>
        </p:spPr>
        <p:txBody>
          <a:bodyPr wrap="square" lIns="18288" tIns="9144" rIns="18288" bIns="9144">
            <a:spAutoFit/>
          </a:bodyPr>
          <a:lstStyle/>
          <a:p>
            <a:pPr>
              <a:spcAft>
                <a:spcPts val="200"/>
              </a:spcAft>
              <a:defRPr sz="1000" b="0">
                <a:solidFill>
                  <a:srgbClr val="333333"/>
                </a:solidFill>
              </a:defRPr>
            </a:pPr>
            <a:r>
              <a:rPr dirty="0">
                <a:latin typeface="+mn-lt"/>
              </a:rPr>
              <a:t>•  XGBoost wins every metric, by a</a:t>
            </a:r>
            <a:r>
              <a:rPr lang="en-US" dirty="0">
                <a:latin typeface="+mn-lt"/>
              </a:rPr>
              <a:t> little</a:t>
            </a:r>
            <a:r>
              <a:rPr dirty="0">
                <a:latin typeface="+mn-lt"/>
              </a:rPr>
              <a:t> margin.</a:t>
            </a:r>
            <a:r>
              <a:rPr lang="en-US" dirty="0">
                <a:latin typeface="+mn-lt"/>
              </a:rPr>
              <a:t> It may matter more when add more non liner features</a:t>
            </a:r>
            <a:endParaRPr dirty="0">
              <a:latin typeface="+mn-lt"/>
            </a:endParaRPr>
          </a:p>
          <a:p>
            <a:pPr>
              <a:spcAft>
                <a:spcPts val="200"/>
              </a:spcAft>
              <a:defRPr sz="1000" b="0">
                <a:solidFill>
                  <a:srgbClr val="333333"/>
                </a:solidFill>
              </a:defRPr>
            </a:pPr>
            <a:r>
              <a:rPr dirty="0">
                <a:latin typeface="+mn-lt"/>
              </a:rPr>
              <a:t>•  The neural net gave no advantage on tabular clinical data.</a:t>
            </a:r>
          </a:p>
        </p:txBody>
      </p:sp>
      <p:pic>
        <p:nvPicPr>
          <p:cNvPr id="11" name="Picture 10" descr="all_models_roc_pr.png"/>
          <p:cNvPicPr>
            <a:picLocks noChangeAspect="1"/>
          </p:cNvPicPr>
          <p:nvPr/>
        </p:nvPicPr>
        <p:blipFill>
          <a:blip r:embed="rId3"/>
          <a:stretch>
            <a:fillRect/>
          </a:stretch>
        </p:blipFill>
        <p:spPr>
          <a:xfrm>
            <a:off x="4672586" y="1967487"/>
            <a:ext cx="4178808" cy="1460950"/>
          </a:xfrm>
          <a:prstGeom prst="rect">
            <a:avLst/>
          </a:prstGeom>
          <a:ln w="9525">
            <a:solidFill>
              <a:srgbClr val="E2D8CF"/>
            </a:solidFill>
          </a:ln>
        </p:spPr>
      </p:pic>
      <p:sp>
        <p:nvSpPr>
          <p:cNvPr id="12" name="TextBox 11"/>
          <p:cNvSpPr txBox="1"/>
          <p:nvPr/>
        </p:nvSpPr>
        <p:spPr>
          <a:xfrm>
            <a:off x="274320" y="4754880"/>
            <a:ext cx="8522208" cy="172355"/>
          </a:xfrm>
          <a:prstGeom prst="rect">
            <a:avLst/>
          </a:prstGeom>
          <a:noFill/>
        </p:spPr>
        <p:txBody>
          <a:bodyPr wrap="square" lIns="18288" tIns="9144" rIns="18288" bIns="9144">
            <a:spAutoFit/>
          </a:bodyPr>
          <a:lstStyle/>
          <a:p>
            <a:pPr algn="ctr">
              <a:spcAft>
                <a:spcPts val="400"/>
              </a:spcAft>
              <a:defRPr sz="1000" b="1">
                <a:solidFill>
                  <a:srgbClr val="8C3F00"/>
                </a:solidFill>
              </a:defRPr>
            </a:pPr>
            <a:r>
              <a:rPr>
                <a:latin typeface="+mn-lt"/>
              </a:rPr>
              <a:t>ROC and precision-recall curves overlap closely: the three models are near-indistinguishable on this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992124"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RESULTS</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SHAP Recovers the Interpretability</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a:latin typeface="+mn-lt"/>
              </a:rPr>
              <a:t>Cross-checked against the GLM coefficients</a:t>
            </a:r>
          </a:p>
        </p:txBody>
      </p:sp>
      <p:pic>
        <p:nvPicPr>
          <p:cNvPr id="7" name="Picture 6" descr="shap_importance_bar.png"/>
          <p:cNvPicPr>
            <a:picLocks noChangeAspect="1"/>
          </p:cNvPicPr>
          <p:nvPr/>
        </p:nvPicPr>
        <p:blipFill>
          <a:blip r:embed="rId3"/>
          <a:stretch>
            <a:fillRect/>
          </a:stretch>
        </p:blipFill>
        <p:spPr>
          <a:xfrm>
            <a:off x="784786" y="1635181"/>
            <a:ext cx="2055297" cy="1920239"/>
          </a:xfrm>
          <a:prstGeom prst="rect">
            <a:avLst/>
          </a:prstGeom>
          <a:ln w="9525">
            <a:solidFill>
              <a:srgbClr val="E2D8CF"/>
            </a:solidFill>
          </a:ln>
        </p:spPr>
      </p:pic>
      <p:pic>
        <p:nvPicPr>
          <p:cNvPr id="8" name="Picture 7" descr="shap_summary_beeswarm.png"/>
          <p:cNvPicPr>
            <a:picLocks noChangeAspect="1"/>
          </p:cNvPicPr>
          <p:nvPr/>
        </p:nvPicPr>
        <p:blipFill>
          <a:blip r:embed="rId4"/>
          <a:stretch>
            <a:fillRect/>
          </a:stretch>
        </p:blipFill>
        <p:spPr>
          <a:xfrm>
            <a:off x="3303016" y="1670965"/>
            <a:ext cx="2024130" cy="1920239"/>
          </a:xfrm>
          <a:prstGeom prst="rect">
            <a:avLst/>
          </a:prstGeom>
          <a:ln w="9525">
            <a:solidFill>
              <a:srgbClr val="E2D8CF"/>
            </a:solidFill>
          </a:ln>
        </p:spPr>
      </p:pic>
      <p:graphicFrame>
        <p:nvGraphicFramePr>
          <p:cNvPr id="9" name="Table 8"/>
          <p:cNvGraphicFramePr>
            <a:graphicFrameLocks noGrp="1"/>
          </p:cNvGraphicFramePr>
          <p:nvPr>
            <p:extLst>
              <p:ext uri="{D42A27DB-BD31-4B8C-83A1-F6EECF244321}">
                <p14:modId xmlns:p14="http://schemas.microsoft.com/office/powerpoint/2010/main" val="3626700937"/>
              </p:ext>
            </p:extLst>
          </p:nvPr>
        </p:nvGraphicFramePr>
        <p:xfrm>
          <a:off x="5805763" y="1670965"/>
          <a:ext cx="3017520" cy="1298448"/>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16408">
                <a:tc>
                  <a:txBody>
                    <a:bodyPr/>
                    <a:lstStyle/>
                    <a:p>
                      <a:pPr>
                        <a:defRPr sz="850" b="1">
                          <a:solidFill>
                            <a:srgbClr val="FFFFFF"/>
                          </a:solidFill>
                        </a:defRPr>
                      </a:pPr>
                      <a:r>
                        <a:t>Feature</a:t>
                      </a:r>
                    </a:p>
                  </a:txBody>
                  <a:tcPr marL="45720" marR="45720" marT="18288" marB="18288">
                    <a:solidFill>
                      <a:srgbClr val="BF5700"/>
                    </a:solidFill>
                  </a:tcPr>
                </a:tc>
                <a:tc>
                  <a:txBody>
                    <a:bodyPr/>
                    <a:lstStyle/>
                    <a:p>
                      <a:pPr>
                        <a:defRPr sz="850" b="1">
                          <a:solidFill>
                            <a:srgbClr val="FFFFFF"/>
                          </a:solidFill>
                        </a:defRPr>
                      </a:pPr>
                      <a:r>
                        <a:rPr dirty="0"/>
                        <a:t>β</a:t>
                      </a:r>
                    </a:p>
                  </a:txBody>
                  <a:tcPr marL="45720" marR="45720" marT="18288" marB="18288">
                    <a:solidFill>
                      <a:srgbClr val="BF5700"/>
                    </a:solidFill>
                  </a:tcPr>
                </a:tc>
                <a:tc>
                  <a:txBody>
                    <a:bodyPr/>
                    <a:lstStyle/>
                    <a:p>
                      <a:pPr>
                        <a:defRPr sz="850" b="1">
                          <a:solidFill>
                            <a:srgbClr val="FFFFFF"/>
                          </a:solidFill>
                        </a:defRPr>
                      </a:pPr>
                      <a:r>
                        <a:t>Odds ratio</a:t>
                      </a:r>
                    </a:p>
                  </a:txBody>
                  <a:tcPr marL="45720" marR="45720" marT="18288" marB="18288">
                    <a:solidFill>
                      <a:srgbClr val="BF5700"/>
                    </a:solidFill>
                  </a:tcPr>
                </a:tc>
                <a:extLst>
                  <a:ext uri="{0D108BD9-81ED-4DB2-BD59-A6C34878D82A}">
                    <a16:rowId xmlns:a16="http://schemas.microsoft.com/office/drawing/2014/main" val="10000"/>
                  </a:ext>
                </a:extLst>
              </a:tr>
              <a:tr h="216408">
                <a:tc>
                  <a:txBody>
                    <a:bodyPr/>
                    <a:lstStyle/>
                    <a:p>
                      <a:pPr>
                        <a:defRPr sz="850" b="0">
                          <a:solidFill>
                            <a:srgbClr val="333333"/>
                          </a:solidFill>
                        </a:defRPr>
                      </a:pPr>
                      <a:r>
                        <a:t>Age</a:t>
                      </a:r>
                    </a:p>
                  </a:txBody>
                  <a:tcPr marL="45720" marR="45720" marT="18288" marB="18288">
                    <a:solidFill>
                      <a:srgbClr val="F7EEE7"/>
                    </a:solidFill>
                  </a:tcPr>
                </a:tc>
                <a:tc>
                  <a:txBody>
                    <a:bodyPr/>
                    <a:lstStyle/>
                    <a:p>
                      <a:pPr>
                        <a:defRPr sz="850" b="0">
                          <a:solidFill>
                            <a:srgbClr val="333333"/>
                          </a:solidFill>
                        </a:defRPr>
                      </a:pPr>
                      <a:r>
                        <a:t>+1.47</a:t>
                      </a:r>
                    </a:p>
                  </a:txBody>
                  <a:tcPr marL="45720" marR="45720" marT="18288" marB="18288">
                    <a:solidFill>
                      <a:srgbClr val="F7EEE7"/>
                    </a:solidFill>
                  </a:tcPr>
                </a:tc>
                <a:tc>
                  <a:txBody>
                    <a:bodyPr/>
                    <a:lstStyle/>
                    <a:p>
                      <a:pPr>
                        <a:defRPr sz="850" b="0">
                          <a:solidFill>
                            <a:srgbClr val="333333"/>
                          </a:solidFill>
                        </a:defRPr>
                      </a:pPr>
                      <a:r>
                        <a:t>4.33</a:t>
                      </a:r>
                    </a:p>
                  </a:txBody>
                  <a:tcPr marL="45720" marR="45720" marT="18288" marB="18288">
                    <a:solidFill>
                      <a:srgbClr val="F7EEE7"/>
                    </a:solidFill>
                  </a:tcPr>
                </a:tc>
                <a:extLst>
                  <a:ext uri="{0D108BD9-81ED-4DB2-BD59-A6C34878D82A}">
                    <a16:rowId xmlns:a16="http://schemas.microsoft.com/office/drawing/2014/main" val="10001"/>
                  </a:ext>
                </a:extLst>
              </a:tr>
              <a:tr h="216408">
                <a:tc>
                  <a:txBody>
                    <a:bodyPr/>
                    <a:lstStyle/>
                    <a:p>
                      <a:pPr>
                        <a:defRPr sz="850" b="0">
                          <a:solidFill>
                            <a:srgbClr val="333333"/>
                          </a:solidFill>
                        </a:defRPr>
                      </a:pPr>
                      <a:r>
                        <a:t>Race/ethnicity</a:t>
                      </a:r>
                    </a:p>
                  </a:txBody>
                  <a:tcPr marL="45720" marR="45720" marT="18288" marB="18288">
                    <a:solidFill>
                      <a:srgbClr val="FFFFFF"/>
                    </a:solidFill>
                  </a:tcPr>
                </a:tc>
                <a:tc>
                  <a:txBody>
                    <a:bodyPr/>
                    <a:lstStyle/>
                    <a:p>
                      <a:pPr>
                        <a:defRPr sz="850" b="0">
                          <a:solidFill>
                            <a:srgbClr val="333333"/>
                          </a:solidFill>
                        </a:defRPr>
                      </a:pPr>
                      <a:r>
                        <a:t>+0.53</a:t>
                      </a:r>
                    </a:p>
                  </a:txBody>
                  <a:tcPr marL="45720" marR="45720" marT="18288" marB="18288">
                    <a:solidFill>
                      <a:srgbClr val="FFFFFF"/>
                    </a:solidFill>
                  </a:tcPr>
                </a:tc>
                <a:tc>
                  <a:txBody>
                    <a:bodyPr/>
                    <a:lstStyle/>
                    <a:p>
                      <a:pPr>
                        <a:defRPr sz="850" b="0">
                          <a:solidFill>
                            <a:srgbClr val="333333"/>
                          </a:solidFill>
                        </a:defRPr>
                      </a:pPr>
                      <a:r>
                        <a:t>1.70</a:t>
                      </a:r>
                    </a:p>
                  </a:txBody>
                  <a:tcPr marL="45720" marR="45720" marT="18288" marB="18288">
                    <a:solidFill>
                      <a:srgbClr val="FFFFFF"/>
                    </a:solidFill>
                  </a:tcPr>
                </a:tc>
                <a:extLst>
                  <a:ext uri="{0D108BD9-81ED-4DB2-BD59-A6C34878D82A}">
                    <a16:rowId xmlns:a16="http://schemas.microsoft.com/office/drawing/2014/main" val="10002"/>
                  </a:ext>
                </a:extLst>
              </a:tr>
              <a:tr h="216408">
                <a:tc>
                  <a:txBody>
                    <a:bodyPr/>
                    <a:lstStyle/>
                    <a:p>
                      <a:pPr>
                        <a:defRPr sz="850" b="0">
                          <a:solidFill>
                            <a:srgbClr val="333333"/>
                          </a:solidFill>
                        </a:defRPr>
                      </a:pPr>
                      <a:r>
                        <a:t>BMI</a:t>
                      </a:r>
                    </a:p>
                  </a:txBody>
                  <a:tcPr marL="45720" marR="45720" marT="18288" marB="18288">
                    <a:solidFill>
                      <a:srgbClr val="F7EEE7"/>
                    </a:solidFill>
                  </a:tcPr>
                </a:tc>
                <a:tc>
                  <a:txBody>
                    <a:bodyPr/>
                    <a:lstStyle/>
                    <a:p>
                      <a:pPr>
                        <a:defRPr sz="850" b="0">
                          <a:solidFill>
                            <a:srgbClr val="333333"/>
                          </a:solidFill>
                        </a:defRPr>
                      </a:pPr>
                      <a:r>
                        <a:t>–0.45</a:t>
                      </a:r>
                    </a:p>
                  </a:txBody>
                  <a:tcPr marL="45720" marR="45720" marT="18288" marB="18288">
                    <a:solidFill>
                      <a:srgbClr val="F7EEE7"/>
                    </a:solidFill>
                  </a:tcPr>
                </a:tc>
                <a:tc>
                  <a:txBody>
                    <a:bodyPr/>
                    <a:lstStyle/>
                    <a:p>
                      <a:pPr>
                        <a:defRPr sz="850" b="0">
                          <a:solidFill>
                            <a:srgbClr val="333333"/>
                          </a:solidFill>
                        </a:defRPr>
                      </a:pPr>
                      <a:r>
                        <a:t>0.64</a:t>
                      </a:r>
                    </a:p>
                  </a:txBody>
                  <a:tcPr marL="45720" marR="45720" marT="18288" marB="18288">
                    <a:solidFill>
                      <a:srgbClr val="F7EEE7"/>
                    </a:solidFill>
                  </a:tcPr>
                </a:tc>
                <a:extLst>
                  <a:ext uri="{0D108BD9-81ED-4DB2-BD59-A6C34878D82A}">
                    <a16:rowId xmlns:a16="http://schemas.microsoft.com/office/drawing/2014/main" val="10003"/>
                  </a:ext>
                </a:extLst>
              </a:tr>
              <a:tr h="216408">
                <a:tc>
                  <a:txBody>
                    <a:bodyPr/>
                    <a:lstStyle/>
                    <a:p>
                      <a:pPr>
                        <a:defRPr sz="850" b="0">
                          <a:solidFill>
                            <a:srgbClr val="333333"/>
                          </a:solidFill>
                        </a:defRPr>
                      </a:pPr>
                      <a:r>
                        <a:t>CHF (yes)</a:t>
                      </a:r>
                    </a:p>
                  </a:txBody>
                  <a:tcPr marL="45720" marR="45720" marT="18288" marB="18288">
                    <a:solidFill>
                      <a:srgbClr val="FFFFFF"/>
                    </a:solidFill>
                  </a:tcPr>
                </a:tc>
                <a:tc>
                  <a:txBody>
                    <a:bodyPr/>
                    <a:lstStyle/>
                    <a:p>
                      <a:pPr>
                        <a:defRPr sz="850" b="0">
                          <a:solidFill>
                            <a:srgbClr val="333333"/>
                          </a:solidFill>
                        </a:defRPr>
                      </a:pPr>
                      <a:r>
                        <a:t>+0.38</a:t>
                      </a:r>
                    </a:p>
                  </a:txBody>
                  <a:tcPr marL="45720" marR="45720" marT="18288" marB="18288">
                    <a:solidFill>
                      <a:srgbClr val="FFFFFF"/>
                    </a:solidFill>
                  </a:tcPr>
                </a:tc>
                <a:tc>
                  <a:txBody>
                    <a:bodyPr/>
                    <a:lstStyle/>
                    <a:p>
                      <a:pPr>
                        <a:defRPr sz="850" b="0">
                          <a:solidFill>
                            <a:srgbClr val="333333"/>
                          </a:solidFill>
                        </a:defRPr>
                      </a:pPr>
                      <a:r>
                        <a:t>1.46</a:t>
                      </a:r>
                    </a:p>
                  </a:txBody>
                  <a:tcPr marL="45720" marR="45720" marT="18288" marB="18288">
                    <a:solidFill>
                      <a:srgbClr val="FFFFFF"/>
                    </a:solidFill>
                  </a:tcPr>
                </a:tc>
                <a:extLst>
                  <a:ext uri="{0D108BD9-81ED-4DB2-BD59-A6C34878D82A}">
                    <a16:rowId xmlns:a16="http://schemas.microsoft.com/office/drawing/2014/main" val="10004"/>
                  </a:ext>
                </a:extLst>
              </a:tr>
              <a:tr h="216408">
                <a:tc>
                  <a:txBody>
                    <a:bodyPr/>
                    <a:lstStyle/>
                    <a:p>
                      <a:pPr>
                        <a:defRPr sz="850" b="0">
                          <a:solidFill>
                            <a:srgbClr val="333333"/>
                          </a:solidFill>
                        </a:defRPr>
                      </a:pPr>
                      <a:r>
                        <a:t>Marital status</a:t>
                      </a:r>
                    </a:p>
                  </a:txBody>
                  <a:tcPr marL="45720" marR="45720" marT="18288" marB="18288">
                    <a:solidFill>
                      <a:srgbClr val="F7EEE7"/>
                    </a:solidFill>
                  </a:tcPr>
                </a:tc>
                <a:tc>
                  <a:txBody>
                    <a:bodyPr/>
                    <a:lstStyle/>
                    <a:p>
                      <a:pPr>
                        <a:defRPr sz="850" b="0">
                          <a:solidFill>
                            <a:srgbClr val="333333"/>
                          </a:solidFill>
                        </a:defRPr>
                      </a:pPr>
                      <a:r>
                        <a:t>–0.39</a:t>
                      </a:r>
                    </a:p>
                  </a:txBody>
                  <a:tcPr marL="45720" marR="45720" marT="18288" marB="18288">
                    <a:solidFill>
                      <a:srgbClr val="F7EEE7"/>
                    </a:solidFill>
                  </a:tcPr>
                </a:tc>
                <a:tc>
                  <a:txBody>
                    <a:bodyPr/>
                    <a:lstStyle/>
                    <a:p>
                      <a:pPr>
                        <a:defRPr sz="850" b="0">
                          <a:solidFill>
                            <a:srgbClr val="333333"/>
                          </a:solidFill>
                        </a:defRPr>
                      </a:pPr>
                      <a:r>
                        <a:rPr dirty="0"/>
                        <a:t>0.68</a:t>
                      </a:r>
                    </a:p>
                  </a:txBody>
                  <a:tcPr marL="45720" marR="45720" marT="18288" marB="18288">
                    <a:solidFill>
                      <a:srgbClr val="F7EEE7"/>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310896" y="4837176"/>
            <a:ext cx="3017520" cy="133883"/>
          </a:xfrm>
          <a:prstGeom prst="rect">
            <a:avLst/>
          </a:prstGeom>
          <a:noFill/>
        </p:spPr>
        <p:txBody>
          <a:bodyPr wrap="square" lIns="18288" tIns="9144" rIns="18288" bIns="9144">
            <a:spAutoFit/>
          </a:bodyPr>
          <a:lstStyle/>
          <a:p>
            <a:pPr>
              <a:spcAft>
                <a:spcPts val="400"/>
              </a:spcAft>
              <a:defRPr sz="750" b="0">
                <a:solidFill>
                  <a:srgbClr val="6B6662"/>
                </a:solidFill>
              </a:defRPr>
            </a:pPr>
            <a:r>
              <a:rPr>
                <a:latin typeface="+mn-lt"/>
              </a:rPr>
              <a:t>GLM top-5 coefficients (standardized)</a:t>
            </a:r>
          </a:p>
        </p:txBody>
      </p:sp>
      <p:sp>
        <p:nvSpPr>
          <p:cNvPr id="11" name="TextBox 10"/>
          <p:cNvSpPr txBox="1"/>
          <p:nvPr/>
        </p:nvSpPr>
        <p:spPr>
          <a:xfrm>
            <a:off x="776319" y="4002918"/>
            <a:ext cx="7343214" cy="508344"/>
          </a:xfrm>
          <a:prstGeom prst="rect">
            <a:avLst/>
          </a:prstGeom>
          <a:noFill/>
        </p:spPr>
        <p:txBody>
          <a:bodyPr wrap="square" lIns="18288" tIns="9144" rIns="18288" bIns="9144">
            <a:spAutoFit/>
          </a:bodyPr>
          <a:lstStyle/>
          <a:p>
            <a:pPr>
              <a:spcAft>
                <a:spcPts val="200"/>
              </a:spcAft>
              <a:defRPr sz="950" b="0">
                <a:solidFill>
                  <a:srgbClr val="333333"/>
                </a:solidFill>
              </a:defRPr>
            </a:pPr>
            <a:r>
              <a:rPr dirty="0">
                <a:latin typeface="+mn-lt"/>
              </a:rPr>
              <a:t>•  Age dominates: mean |SHAP| = 1.41, several times any other feature. The GLM agrees: β = +1.47, odds x4.3 per SD (see table).</a:t>
            </a:r>
          </a:p>
          <a:p>
            <a:pPr>
              <a:spcAft>
                <a:spcPts val="200"/>
              </a:spcAft>
              <a:defRPr sz="950" b="0">
                <a:solidFill>
                  <a:srgbClr val="333333"/>
                </a:solidFill>
              </a:defRPr>
            </a:pPr>
            <a:r>
              <a:rPr dirty="0">
                <a:latin typeface="+mn-lt"/>
              </a:rPr>
              <a:t>•  Both methods rank the same leading drivers: clinically sensible structure, not artifacts.</a:t>
            </a:r>
          </a:p>
          <a:p>
            <a:pPr>
              <a:spcAft>
                <a:spcPts val="200"/>
              </a:spcAft>
              <a:defRPr sz="950" b="0">
                <a:solidFill>
                  <a:srgbClr val="333333"/>
                </a:solidFill>
              </a:defRPr>
            </a:pPr>
            <a:r>
              <a:rPr dirty="0">
                <a:latin typeface="+mn-lt"/>
              </a:rPr>
              <a:t>•  BMI carries a NEGATIVE coefficient (–0.45): reverse causality, since illness causes weight loss. Exactly what a human must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822960"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t>RESULTS</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Agentic Reporting, and What RAG Adds</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dirty="0">
                <a:latin typeface="+mn-lt"/>
              </a:rPr>
              <a:t>Same agent, same 3 tools, same SHAP input -- only retrieval differs</a:t>
            </a:r>
          </a:p>
        </p:txBody>
      </p:sp>
      <p:graphicFrame>
        <p:nvGraphicFramePr>
          <p:cNvPr id="7" name="Table 6"/>
          <p:cNvGraphicFramePr>
            <a:graphicFrameLocks noGrp="1"/>
          </p:cNvGraphicFramePr>
          <p:nvPr/>
        </p:nvGraphicFramePr>
        <p:xfrm>
          <a:off x="310896" y="1517904"/>
          <a:ext cx="4160520" cy="1758696"/>
        </p:xfrm>
        <a:graphic>
          <a:graphicData uri="http://schemas.openxmlformats.org/drawingml/2006/table">
            <a:tbl>
              <a:tblPr firstRow="1" bandRow="1">
                <a:tableStyleId>{5C22544A-7EE6-4342-B048-85BDC9FD1C3A}</a:tableStyleId>
              </a:tblPr>
              <a:tblGrid>
                <a:gridCol w="1386840">
                  <a:extLst>
                    <a:ext uri="{9D8B030D-6E8A-4147-A177-3AD203B41FA5}">
                      <a16:colId xmlns:a16="http://schemas.microsoft.com/office/drawing/2014/main" val="20000"/>
                    </a:ext>
                  </a:extLst>
                </a:gridCol>
                <a:gridCol w="1386840">
                  <a:extLst>
                    <a:ext uri="{9D8B030D-6E8A-4147-A177-3AD203B41FA5}">
                      <a16:colId xmlns:a16="http://schemas.microsoft.com/office/drawing/2014/main" val="20001"/>
                    </a:ext>
                  </a:extLst>
                </a:gridCol>
                <a:gridCol w="1386840">
                  <a:extLst>
                    <a:ext uri="{9D8B030D-6E8A-4147-A177-3AD203B41FA5}">
                      <a16:colId xmlns:a16="http://schemas.microsoft.com/office/drawing/2014/main" val="20002"/>
                    </a:ext>
                  </a:extLst>
                </a:gridCol>
              </a:tblGrid>
              <a:tr h="289560">
                <a:tc>
                  <a:txBody>
                    <a:bodyPr/>
                    <a:lstStyle/>
                    <a:p>
                      <a:pPr>
                        <a:defRPr sz="900" b="1">
                          <a:solidFill>
                            <a:srgbClr val="FFFFFF"/>
                          </a:solidFill>
                        </a:defRPr>
                      </a:pPr>
                      <a:r>
                        <a:t>Metric</a:t>
                      </a:r>
                    </a:p>
                  </a:txBody>
                  <a:tcPr marL="45720" marR="45720" marT="18288" marB="18288">
                    <a:solidFill>
                      <a:srgbClr val="BF5700"/>
                    </a:solidFill>
                  </a:tcPr>
                </a:tc>
                <a:tc>
                  <a:txBody>
                    <a:bodyPr/>
                    <a:lstStyle/>
                    <a:p>
                      <a:pPr>
                        <a:defRPr sz="900" b="1">
                          <a:solidFill>
                            <a:srgbClr val="FFFFFF"/>
                          </a:solidFill>
                        </a:defRPr>
                      </a:pPr>
                      <a:r>
                        <a:t>Tools only</a:t>
                      </a:r>
                    </a:p>
                  </a:txBody>
                  <a:tcPr marL="45720" marR="45720" marT="18288" marB="18288">
                    <a:solidFill>
                      <a:srgbClr val="BF5700"/>
                    </a:solidFill>
                  </a:tcPr>
                </a:tc>
                <a:tc>
                  <a:txBody>
                    <a:bodyPr/>
                    <a:lstStyle/>
                    <a:p>
                      <a:pPr>
                        <a:defRPr sz="900" b="1">
                          <a:solidFill>
                            <a:srgbClr val="FFFFFF"/>
                          </a:solidFill>
                        </a:defRPr>
                      </a:pPr>
                      <a:r>
                        <a:t>Tools + RAG</a:t>
                      </a:r>
                    </a:p>
                  </a:txBody>
                  <a:tcPr marL="45720" marR="45720" marT="18288" marB="18288">
                    <a:solidFill>
                      <a:srgbClr val="BF5700"/>
                    </a:solidFill>
                  </a:tcPr>
                </a:tc>
                <a:extLst>
                  <a:ext uri="{0D108BD9-81ED-4DB2-BD59-A6C34878D82A}">
                    <a16:rowId xmlns:a16="http://schemas.microsoft.com/office/drawing/2014/main" val="10000"/>
                  </a:ext>
                </a:extLst>
              </a:tr>
              <a:tr h="289560">
                <a:tc>
                  <a:txBody>
                    <a:bodyPr/>
                    <a:lstStyle/>
                    <a:p>
                      <a:pPr>
                        <a:defRPr sz="900" b="0">
                          <a:solidFill>
                            <a:srgbClr val="333333"/>
                          </a:solidFill>
                        </a:defRPr>
                      </a:pPr>
                      <a:r>
                        <a:t>Passages injected per report</a:t>
                      </a:r>
                    </a:p>
                  </a:txBody>
                  <a:tcPr marL="45720" marR="45720" marT="18288" marB="18288">
                    <a:solidFill>
                      <a:srgbClr val="F7EEE7"/>
                    </a:solidFill>
                  </a:tcPr>
                </a:tc>
                <a:tc>
                  <a:txBody>
                    <a:bodyPr/>
                    <a:lstStyle/>
                    <a:p>
                      <a:pPr>
                        <a:defRPr sz="900" b="0">
                          <a:solidFill>
                            <a:srgbClr val="333333"/>
                          </a:solidFill>
                        </a:defRPr>
                      </a:pPr>
                      <a:r>
                        <a:t>0</a:t>
                      </a:r>
                    </a:p>
                  </a:txBody>
                  <a:tcPr marL="45720" marR="45720" marT="18288" marB="18288">
                    <a:solidFill>
                      <a:srgbClr val="F7EEE7"/>
                    </a:solidFill>
                  </a:tcPr>
                </a:tc>
                <a:tc>
                  <a:txBody>
                    <a:bodyPr/>
                    <a:lstStyle/>
                    <a:p>
                      <a:pPr>
                        <a:defRPr sz="900" b="0">
                          <a:solidFill>
                            <a:srgbClr val="333333"/>
                          </a:solidFill>
                        </a:defRPr>
                      </a:pPr>
                      <a:r>
                        <a:t>4</a:t>
                      </a:r>
                    </a:p>
                  </a:txBody>
                  <a:tcPr marL="45720" marR="45720" marT="18288" marB="18288">
                    <a:solidFill>
                      <a:srgbClr val="F7EEE7"/>
                    </a:solidFill>
                  </a:tcPr>
                </a:tc>
                <a:extLst>
                  <a:ext uri="{0D108BD9-81ED-4DB2-BD59-A6C34878D82A}">
                    <a16:rowId xmlns:a16="http://schemas.microsoft.com/office/drawing/2014/main" val="10001"/>
                  </a:ext>
                </a:extLst>
              </a:tr>
              <a:tr h="289560">
                <a:tc>
                  <a:txBody>
                    <a:bodyPr/>
                    <a:lstStyle/>
                    <a:p>
                      <a:pPr>
                        <a:defRPr sz="900" b="0">
                          <a:solidFill>
                            <a:srgbClr val="333333"/>
                          </a:solidFill>
                        </a:defRPr>
                      </a:pPr>
                      <a:r>
                        <a:t>Distinct citations per report</a:t>
                      </a:r>
                    </a:p>
                  </a:txBody>
                  <a:tcPr marL="45720" marR="45720" marT="18288" marB="18288">
                    <a:solidFill>
                      <a:srgbClr val="FFFFFF"/>
                    </a:solidFill>
                  </a:tcPr>
                </a:tc>
                <a:tc>
                  <a:txBody>
                    <a:bodyPr/>
                    <a:lstStyle/>
                    <a:p>
                      <a:pPr>
                        <a:defRPr sz="900" b="0">
                          <a:solidFill>
                            <a:srgbClr val="333333"/>
                          </a:solidFill>
                        </a:defRPr>
                      </a:pPr>
                      <a:r>
                        <a:t>0.0</a:t>
                      </a:r>
                    </a:p>
                  </a:txBody>
                  <a:tcPr marL="45720" marR="45720" marT="18288" marB="18288">
                    <a:solidFill>
                      <a:srgbClr val="FFFFFF"/>
                    </a:solidFill>
                  </a:tcPr>
                </a:tc>
                <a:tc>
                  <a:txBody>
                    <a:bodyPr/>
                    <a:lstStyle/>
                    <a:p>
                      <a:pPr>
                        <a:defRPr sz="900" b="0">
                          <a:solidFill>
                            <a:srgbClr val="333333"/>
                          </a:solidFill>
                        </a:defRPr>
                      </a:pPr>
                      <a:r>
                        <a:t>3.0</a:t>
                      </a:r>
                    </a:p>
                  </a:txBody>
                  <a:tcPr marL="45720" marR="45720" marT="18288" marB="18288">
                    <a:solidFill>
                      <a:srgbClr val="FFFFFF"/>
                    </a:solidFill>
                  </a:tcPr>
                </a:tc>
                <a:extLst>
                  <a:ext uri="{0D108BD9-81ED-4DB2-BD59-A6C34878D82A}">
                    <a16:rowId xmlns:a16="http://schemas.microsoft.com/office/drawing/2014/main" val="10002"/>
                  </a:ext>
                </a:extLst>
              </a:tr>
              <a:tr h="289560">
                <a:tc>
                  <a:txBody>
                    <a:bodyPr/>
                    <a:lstStyle/>
                    <a:p>
                      <a:pPr>
                        <a:defRPr sz="900" b="0">
                          <a:solidFill>
                            <a:srgbClr val="333333"/>
                          </a:solidFill>
                        </a:defRPr>
                      </a:pPr>
                      <a:r>
                        <a:t>Retrieval similarity (cosine)</a:t>
                      </a:r>
                    </a:p>
                  </a:txBody>
                  <a:tcPr marL="45720" marR="45720" marT="18288" marB="18288">
                    <a:solidFill>
                      <a:srgbClr val="F7EEE7"/>
                    </a:solidFill>
                  </a:tcPr>
                </a:tc>
                <a:tc>
                  <a:txBody>
                    <a:bodyPr/>
                    <a:lstStyle/>
                    <a:p>
                      <a:pPr>
                        <a:defRPr sz="900" b="0">
                          <a:solidFill>
                            <a:srgbClr val="333333"/>
                          </a:solidFill>
                        </a:defRPr>
                      </a:pPr>
                      <a:r>
                        <a:t>n/a</a:t>
                      </a:r>
                    </a:p>
                  </a:txBody>
                  <a:tcPr marL="45720" marR="45720" marT="18288" marB="18288">
                    <a:solidFill>
                      <a:srgbClr val="F7EEE7"/>
                    </a:solidFill>
                  </a:tcPr>
                </a:tc>
                <a:tc>
                  <a:txBody>
                    <a:bodyPr/>
                    <a:lstStyle/>
                    <a:p>
                      <a:pPr>
                        <a:defRPr sz="900" b="0">
                          <a:solidFill>
                            <a:srgbClr val="333333"/>
                          </a:solidFill>
                        </a:defRPr>
                      </a:pPr>
                      <a:r>
                        <a:t>0.715</a:t>
                      </a:r>
                    </a:p>
                  </a:txBody>
                  <a:tcPr marL="45720" marR="45720" marT="18288" marB="18288">
                    <a:solidFill>
                      <a:srgbClr val="F7EEE7"/>
                    </a:solidFill>
                  </a:tcPr>
                </a:tc>
                <a:extLst>
                  <a:ext uri="{0D108BD9-81ED-4DB2-BD59-A6C34878D82A}">
                    <a16:rowId xmlns:a16="http://schemas.microsoft.com/office/drawing/2014/main" val="10003"/>
                  </a:ext>
                </a:extLst>
              </a:tr>
              <a:tr h="289560">
                <a:tc>
                  <a:txBody>
                    <a:bodyPr/>
                    <a:lstStyle/>
                    <a:p>
                      <a:pPr>
                        <a:defRPr sz="900" b="0">
                          <a:solidFill>
                            <a:srgbClr val="333333"/>
                          </a:solidFill>
                        </a:defRPr>
                      </a:pPr>
                      <a:r>
                        <a:t>Report length (words)</a:t>
                      </a:r>
                    </a:p>
                  </a:txBody>
                  <a:tcPr marL="45720" marR="45720" marT="18288" marB="18288">
                    <a:solidFill>
                      <a:srgbClr val="FFFFFF"/>
                    </a:solidFill>
                  </a:tcPr>
                </a:tc>
                <a:tc>
                  <a:txBody>
                    <a:bodyPr/>
                    <a:lstStyle/>
                    <a:p>
                      <a:pPr>
                        <a:defRPr sz="900" b="0">
                          <a:solidFill>
                            <a:srgbClr val="333333"/>
                          </a:solidFill>
                        </a:defRPr>
                      </a:pPr>
                      <a:r>
                        <a:t>179</a:t>
                      </a:r>
                    </a:p>
                  </a:txBody>
                  <a:tcPr marL="45720" marR="45720" marT="18288" marB="18288">
                    <a:solidFill>
                      <a:srgbClr val="FFFFFF"/>
                    </a:solidFill>
                  </a:tcPr>
                </a:tc>
                <a:tc>
                  <a:txBody>
                    <a:bodyPr/>
                    <a:lstStyle/>
                    <a:p>
                      <a:pPr>
                        <a:defRPr sz="900" b="0">
                          <a:solidFill>
                            <a:srgbClr val="333333"/>
                          </a:solidFill>
                        </a:defRPr>
                      </a:pPr>
                      <a:r>
                        <a:t>242</a:t>
                      </a:r>
                    </a:p>
                  </a:txBody>
                  <a:tcPr marL="45720" marR="45720" marT="18288" marB="18288">
                    <a:solidFill>
                      <a:srgbClr val="FFFFFF"/>
                    </a:solidFill>
                  </a:tcPr>
                </a:tc>
                <a:extLst>
                  <a:ext uri="{0D108BD9-81ED-4DB2-BD59-A6C34878D82A}">
                    <a16:rowId xmlns:a16="http://schemas.microsoft.com/office/drawing/2014/main" val="10004"/>
                  </a:ext>
                </a:extLst>
              </a:tr>
              <a:tr h="289560">
                <a:tc>
                  <a:txBody>
                    <a:bodyPr/>
                    <a:lstStyle/>
                    <a:p>
                      <a:pPr>
                        <a:defRPr sz="900" b="0">
                          <a:solidFill>
                            <a:srgbClr val="333333"/>
                          </a:solidFill>
                        </a:defRPr>
                      </a:pPr>
                      <a:r>
                        <a:t>Names the top SHAP driver</a:t>
                      </a:r>
                    </a:p>
                  </a:txBody>
                  <a:tcPr marL="45720" marR="45720" marT="18288" marB="18288">
                    <a:solidFill>
                      <a:srgbClr val="F7EEE7"/>
                    </a:solidFill>
                  </a:tcPr>
                </a:tc>
                <a:tc>
                  <a:txBody>
                    <a:bodyPr/>
                    <a:lstStyle/>
                    <a:p>
                      <a:pPr>
                        <a:defRPr sz="900" b="0">
                          <a:solidFill>
                            <a:srgbClr val="333333"/>
                          </a:solidFill>
                        </a:defRPr>
                      </a:pPr>
                      <a:r>
                        <a:t>8 / 8</a:t>
                      </a:r>
                    </a:p>
                  </a:txBody>
                  <a:tcPr marL="45720" marR="45720" marT="18288" marB="18288">
                    <a:solidFill>
                      <a:srgbClr val="F7EEE7"/>
                    </a:solidFill>
                  </a:tcPr>
                </a:tc>
                <a:tc>
                  <a:txBody>
                    <a:bodyPr/>
                    <a:lstStyle/>
                    <a:p>
                      <a:pPr>
                        <a:defRPr sz="900" b="0">
                          <a:solidFill>
                            <a:srgbClr val="333333"/>
                          </a:solidFill>
                        </a:defRPr>
                      </a:pPr>
                      <a:r>
                        <a:t>8 / 8</a:t>
                      </a:r>
                    </a:p>
                  </a:txBody>
                  <a:tcPr marL="45720" marR="45720" marT="18288" marB="18288">
                    <a:solidFill>
                      <a:srgbClr val="F7EEE7"/>
                    </a:solidFill>
                  </a:tcPr>
                </a:tc>
                <a:extLst>
                  <a:ext uri="{0D108BD9-81ED-4DB2-BD59-A6C34878D82A}">
                    <a16:rowId xmlns:a16="http://schemas.microsoft.com/office/drawing/2014/main" val="10005"/>
                  </a:ext>
                </a:extLst>
              </a:tr>
            </a:tbl>
          </a:graphicData>
        </a:graphic>
      </p:graphicFrame>
      <p:sp>
        <p:nvSpPr>
          <p:cNvPr id="8" name="Chevron 7"/>
          <p:cNvSpPr/>
          <p:nvPr/>
        </p:nvSpPr>
        <p:spPr>
          <a:xfrm>
            <a:off x="310896" y="3392424"/>
            <a:ext cx="998982" cy="420624"/>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t>SHAP drivers</a:t>
            </a:r>
          </a:p>
        </p:txBody>
      </p:sp>
      <p:sp>
        <p:nvSpPr>
          <p:cNvPr id="9" name="Chevron 8"/>
          <p:cNvSpPr/>
          <p:nvPr/>
        </p:nvSpPr>
        <p:spPr>
          <a:xfrm>
            <a:off x="1364742" y="3392424"/>
            <a:ext cx="998982" cy="420624"/>
          </a:xfrm>
          <a:prstGeom prst="chevron">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t>clinical search queries</a:t>
            </a:r>
          </a:p>
        </p:txBody>
      </p:sp>
      <p:sp>
        <p:nvSpPr>
          <p:cNvPr id="10" name="Chevron 9"/>
          <p:cNvSpPr/>
          <p:nvPr/>
        </p:nvSpPr>
        <p:spPr>
          <a:xfrm>
            <a:off x="2418588" y="3392424"/>
            <a:ext cx="998982" cy="420624"/>
          </a:xfrm>
          <a:prstGeom prst="chevron">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t>ChromaDB cosine search</a:t>
            </a:r>
          </a:p>
        </p:txBody>
      </p:sp>
      <p:sp>
        <p:nvSpPr>
          <p:cNvPr id="11" name="Chevron 10"/>
          <p:cNvSpPr/>
          <p:nvPr/>
        </p:nvSpPr>
        <p:spPr>
          <a:xfrm>
            <a:off x="3472434" y="3392424"/>
            <a:ext cx="998982" cy="420624"/>
          </a:xfrm>
          <a:prstGeom prst="chevron">
            <a:avLst/>
          </a:prstGeom>
          <a:solidFill>
            <a:srgbClr val="8C3F00"/>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defRPr sz="850" b="1">
                <a:solidFill>
                  <a:srgbClr val="FFFFFF"/>
                </a:solidFill>
              </a:defRPr>
            </a:pPr>
            <a:r>
              <a:t>top-4 passages into the prompt</a:t>
            </a:r>
          </a:p>
        </p:txBody>
      </p:sp>
      <p:sp>
        <p:nvSpPr>
          <p:cNvPr id="12" name="TextBox 11"/>
          <p:cNvSpPr txBox="1"/>
          <p:nvPr/>
        </p:nvSpPr>
        <p:spPr>
          <a:xfrm>
            <a:off x="310896" y="3913632"/>
            <a:ext cx="4160520" cy="1064907"/>
          </a:xfrm>
          <a:prstGeom prst="rect">
            <a:avLst/>
          </a:prstGeom>
          <a:noFill/>
        </p:spPr>
        <p:txBody>
          <a:bodyPr wrap="square" lIns="18288" tIns="9144" rIns="18288" bIns="9144">
            <a:spAutoFit/>
          </a:bodyPr>
          <a:lstStyle/>
          <a:p>
            <a:pPr>
              <a:spcAft>
                <a:spcPts val="200"/>
              </a:spcAft>
              <a:defRPr sz="900" b="0">
                <a:solidFill>
                  <a:srgbClr val="333333"/>
                </a:solidFill>
              </a:defRPr>
            </a:pPr>
            <a:r>
              <a:rPr dirty="0">
                <a:latin typeface="+mn-lt"/>
              </a:rPr>
              <a:t>•  Knowledge base: 50 documents (ADA, ACC/AHA, KDIGO, WHO, CDC life tables and 42 open-access papers) into 5,593 embedded chunks.</a:t>
            </a:r>
          </a:p>
          <a:p>
            <a:pPr>
              <a:spcAft>
                <a:spcPts val="200"/>
              </a:spcAft>
              <a:defRPr sz="900" b="0">
                <a:solidFill>
                  <a:srgbClr val="333333"/>
                </a:solidFill>
              </a:defRPr>
            </a:pPr>
            <a:r>
              <a:rPr dirty="0">
                <a:latin typeface="+mn-lt"/>
              </a:rPr>
              <a:t>•  Faithfulness did not </a:t>
            </a:r>
            <a:r>
              <a:rPr lang="en-US" dirty="0">
                <a:latin typeface="+mn-lt"/>
              </a:rPr>
              <a:t>deteriorate</a:t>
            </a:r>
            <a:r>
              <a:rPr dirty="0">
                <a:latin typeface="+mn-lt"/>
              </a:rPr>
              <a:t>: both variants cite the model's own top driver in all 8 cases.</a:t>
            </a:r>
          </a:p>
          <a:p>
            <a:pPr>
              <a:spcAft>
                <a:spcPts val="200"/>
              </a:spcAft>
              <a:defRPr sz="900" b="0">
                <a:solidFill>
                  <a:srgbClr val="333333"/>
                </a:solidFill>
              </a:defRPr>
            </a:pPr>
            <a:r>
              <a:rPr dirty="0">
                <a:latin typeface="+mn-lt"/>
              </a:rPr>
              <a:t>•  KEY POINT: retrieval runs BEFORE the LLM, not as a tool it may skip, so grounding is guaranteed rather than probabilistic.</a:t>
            </a:r>
          </a:p>
          <a:p>
            <a:pPr>
              <a:spcAft>
                <a:spcPts val="200"/>
              </a:spcAft>
              <a:defRPr sz="900" b="0">
                <a:solidFill>
                  <a:srgbClr val="333333"/>
                </a:solidFill>
              </a:defRPr>
            </a:pPr>
            <a:r>
              <a:rPr dirty="0">
                <a:latin typeface="+mn-lt"/>
              </a:rPr>
              <a:t>• </a:t>
            </a:r>
            <a:r>
              <a:rPr lang="en-US" dirty="0">
                <a:latin typeface="+mn-lt"/>
              </a:rPr>
              <a:t>C</a:t>
            </a:r>
            <a:r>
              <a:rPr dirty="0">
                <a:latin typeface="+mn-lt"/>
              </a:rPr>
              <a:t>aveat: citation density measures coverage, not correctness.</a:t>
            </a:r>
          </a:p>
        </p:txBody>
      </p:sp>
      <p:pic>
        <p:nvPicPr>
          <p:cNvPr id="16" name="Picture 15">
            <a:extLst>
              <a:ext uri="{FF2B5EF4-FFF2-40B4-BE49-F238E27FC236}">
                <a16:creationId xmlns:a16="http://schemas.microsoft.com/office/drawing/2014/main" id="{DA512B09-2AA8-4034-3C5F-69116D0D53B9}"/>
              </a:ext>
            </a:extLst>
          </p:cNvPr>
          <p:cNvPicPr>
            <a:picLocks noChangeAspect="1"/>
          </p:cNvPicPr>
          <p:nvPr/>
        </p:nvPicPr>
        <p:blipFill>
          <a:blip r:embed="rId3"/>
          <a:stretch>
            <a:fillRect/>
          </a:stretch>
        </p:blipFill>
        <p:spPr>
          <a:xfrm>
            <a:off x="4885487" y="1556040"/>
            <a:ext cx="3844440" cy="3191897"/>
          </a:xfrm>
          <a:prstGeom prst="rect">
            <a:avLst/>
          </a:prstGeom>
        </p:spPr>
      </p:pic>
      <p:sp>
        <p:nvSpPr>
          <p:cNvPr id="17" name="TextBox 16">
            <a:extLst>
              <a:ext uri="{FF2B5EF4-FFF2-40B4-BE49-F238E27FC236}">
                <a16:creationId xmlns:a16="http://schemas.microsoft.com/office/drawing/2014/main" id="{CFD854B3-67E2-2FC1-69F8-2B43782CDD03}"/>
              </a:ext>
            </a:extLst>
          </p:cNvPr>
          <p:cNvSpPr txBox="1"/>
          <p:nvPr/>
        </p:nvSpPr>
        <p:spPr>
          <a:xfrm>
            <a:off x="4688854" y="1243584"/>
            <a:ext cx="970137" cy="246221"/>
          </a:xfrm>
          <a:prstGeom prst="rect">
            <a:avLst/>
          </a:prstGeom>
          <a:noFill/>
        </p:spPr>
        <p:txBody>
          <a:bodyPr wrap="none" rtlCol="0">
            <a:spAutoFit/>
          </a:bodyPr>
          <a:lstStyle/>
          <a:p>
            <a:r>
              <a:rPr lang="en-US" sz="1000" b="1" dirty="0">
                <a:latin typeface="+mn-lt"/>
              </a:rPr>
              <a:t>Sample Report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777240"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t>DEMO</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dirty="0">
                <a:latin typeface="+mn-lt"/>
              </a:rPr>
              <a:t>Demo</a:t>
            </a:r>
            <a:r>
              <a:rPr lang="en-US" dirty="0">
                <a:latin typeface="+mn-lt"/>
              </a:rPr>
              <a:t> App</a:t>
            </a:r>
            <a:endParaRPr dirty="0">
              <a:latin typeface="+mn-lt"/>
            </a:endParaRP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2608" y="1243584"/>
            <a:ext cx="8522208" cy="172355"/>
          </a:xfrm>
          <a:prstGeom prst="rect">
            <a:avLst/>
          </a:prstGeom>
          <a:noFill/>
        </p:spPr>
        <p:txBody>
          <a:bodyPr wrap="square" lIns="18288" tIns="9144" rIns="18288" bIns="9144">
            <a:spAutoFit/>
          </a:bodyPr>
          <a:lstStyle/>
          <a:p>
            <a:pPr>
              <a:spcAft>
                <a:spcPts val="400"/>
              </a:spcAft>
              <a:defRPr sz="1000" b="0">
                <a:solidFill>
                  <a:srgbClr val="6B6662"/>
                </a:solidFill>
              </a:defRPr>
            </a:pPr>
            <a:r>
              <a:rPr>
                <a:latin typeface="+mn-lt"/>
              </a:rPr>
              <a:t>Gradio app running the full pipeline on one applicant</a:t>
            </a:r>
          </a:p>
        </p:txBody>
      </p:sp>
      <p:pic>
        <p:nvPicPr>
          <p:cNvPr id="7" name="Picture 6" descr="UI_Flows.png"/>
          <p:cNvPicPr>
            <a:picLocks noChangeAspect="1"/>
          </p:cNvPicPr>
          <p:nvPr/>
        </p:nvPicPr>
        <p:blipFill>
          <a:blip r:embed="rId3"/>
          <a:stretch>
            <a:fillRect/>
          </a:stretch>
        </p:blipFill>
        <p:spPr>
          <a:xfrm>
            <a:off x="1420907" y="1499616"/>
            <a:ext cx="3312098" cy="3246120"/>
          </a:xfrm>
          <a:prstGeom prst="rect">
            <a:avLst/>
          </a:prstGeom>
        </p:spPr>
      </p:pic>
      <p:sp>
        <p:nvSpPr>
          <p:cNvPr id="8" name="Rounded Rectangle 7"/>
          <p:cNvSpPr/>
          <p:nvPr/>
        </p:nvSpPr>
        <p:spPr>
          <a:xfrm>
            <a:off x="5989320" y="1517904"/>
            <a:ext cx="2843784" cy="566928"/>
          </a:xfrm>
          <a:prstGeom prst="roundRect">
            <a:avLst/>
          </a:prstGeom>
          <a:solidFill>
            <a:srgbClr val="F7EEE7"/>
          </a:solidFill>
          <a:ln w="11430">
            <a:solidFill>
              <a:srgbClr val="E2D8CF"/>
            </a:solidFill>
          </a:ln>
          <a:effectLst/>
        </p:spPr>
        <p:style>
          <a:lnRef idx="1">
            <a:schemeClr val="accent1"/>
          </a:lnRef>
          <a:fillRef idx="3">
            <a:schemeClr val="accent1"/>
          </a:fillRef>
          <a:effectRef idx="2">
            <a:schemeClr val="accent1"/>
          </a:effectRef>
          <a:fontRef idx="minor">
            <a:schemeClr val="lt1"/>
          </a:fontRef>
        </p:style>
        <p:txBody>
          <a:bodyPr lIns="82296" rtlCol="0" anchor="ctr"/>
          <a:lstStyle/>
          <a:p>
            <a:pPr algn="ctr">
              <a:spcAft>
                <a:spcPts val="0"/>
              </a:spcAft>
              <a:defRPr sz="1000" b="1">
                <a:solidFill>
                  <a:srgbClr val="8C3F00"/>
                </a:solidFill>
              </a:defRPr>
            </a:pPr>
            <a:r>
              <a:t>Risk score</a:t>
            </a:r>
          </a:p>
          <a:p>
            <a:pPr>
              <a:spcAft>
                <a:spcPts val="0"/>
              </a:spcAft>
              <a:defRPr sz="850" b="0">
                <a:solidFill>
                  <a:srgbClr val="6B6662"/>
                </a:solidFill>
              </a:defRPr>
            </a:pPr>
            <a:r>
              <a:t>probability plus underwriting category</a:t>
            </a:r>
          </a:p>
        </p:txBody>
      </p:sp>
      <p:sp>
        <p:nvSpPr>
          <p:cNvPr id="9" name="Rounded Rectangle 8"/>
          <p:cNvSpPr/>
          <p:nvPr/>
        </p:nvSpPr>
        <p:spPr>
          <a:xfrm>
            <a:off x="5989320" y="2157984"/>
            <a:ext cx="2843784" cy="566928"/>
          </a:xfrm>
          <a:prstGeom prst="roundRect">
            <a:avLst/>
          </a:prstGeom>
          <a:solidFill>
            <a:srgbClr val="FFFFFF"/>
          </a:solidFill>
          <a:ln w="11430">
            <a:solidFill>
              <a:srgbClr val="E2D8CF"/>
            </a:solidFill>
          </a:ln>
          <a:effectLst/>
        </p:spPr>
        <p:style>
          <a:lnRef idx="1">
            <a:schemeClr val="accent1"/>
          </a:lnRef>
          <a:fillRef idx="3">
            <a:schemeClr val="accent1"/>
          </a:fillRef>
          <a:effectRef idx="2">
            <a:schemeClr val="accent1"/>
          </a:effectRef>
          <a:fontRef idx="minor">
            <a:schemeClr val="lt1"/>
          </a:fontRef>
        </p:style>
        <p:txBody>
          <a:bodyPr lIns="82296" rtlCol="0" anchor="ctr"/>
          <a:lstStyle/>
          <a:p>
            <a:pPr algn="ctr">
              <a:spcAft>
                <a:spcPts val="0"/>
              </a:spcAft>
              <a:defRPr sz="1000" b="1">
                <a:solidFill>
                  <a:srgbClr val="8C3F00"/>
                </a:solidFill>
              </a:defRPr>
            </a:pPr>
            <a:r>
              <a:t>SHAP factors</a:t>
            </a:r>
          </a:p>
          <a:p>
            <a:pPr>
              <a:spcAft>
                <a:spcPts val="0"/>
              </a:spcAft>
              <a:defRPr sz="850" b="0">
                <a:solidFill>
                  <a:srgbClr val="6B6662"/>
                </a:solidFill>
              </a:defRPr>
            </a:pPr>
            <a:r>
              <a:t>direction and magnitude per feature</a:t>
            </a:r>
          </a:p>
        </p:txBody>
      </p:sp>
      <p:sp>
        <p:nvSpPr>
          <p:cNvPr id="10" name="Rounded Rectangle 9"/>
          <p:cNvSpPr/>
          <p:nvPr/>
        </p:nvSpPr>
        <p:spPr>
          <a:xfrm>
            <a:off x="5989320" y="2798063"/>
            <a:ext cx="2843784" cy="566928"/>
          </a:xfrm>
          <a:prstGeom prst="roundRect">
            <a:avLst/>
          </a:prstGeom>
          <a:solidFill>
            <a:srgbClr val="F7EEE7"/>
          </a:solidFill>
          <a:ln w="11430">
            <a:solidFill>
              <a:srgbClr val="E2D8CF"/>
            </a:solidFill>
          </a:ln>
          <a:effectLst/>
        </p:spPr>
        <p:style>
          <a:lnRef idx="1">
            <a:schemeClr val="accent1"/>
          </a:lnRef>
          <a:fillRef idx="3">
            <a:schemeClr val="accent1"/>
          </a:fillRef>
          <a:effectRef idx="2">
            <a:schemeClr val="accent1"/>
          </a:effectRef>
          <a:fontRef idx="minor">
            <a:schemeClr val="lt1"/>
          </a:fontRef>
        </p:style>
        <p:txBody>
          <a:bodyPr lIns="82296" rtlCol="0" anchor="ctr"/>
          <a:lstStyle/>
          <a:p>
            <a:pPr algn="ctr">
              <a:spcAft>
                <a:spcPts val="0"/>
              </a:spcAft>
              <a:defRPr sz="1000" b="1">
                <a:solidFill>
                  <a:srgbClr val="8C3F00"/>
                </a:solidFill>
              </a:defRPr>
            </a:pPr>
            <a:r>
              <a:t>Approach switch</a:t>
            </a:r>
          </a:p>
          <a:p>
            <a:pPr>
              <a:spcAft>
                <a:spcPts val="0"/>
              </a:spcAft>
              <a:defRPr sz="850" b="0">
                <a:solidFill>
                  <a:srgbClr val="6B6662"/>
                </a:solidFill>
              </a:defRPr>
            </a:pPr>
            <a:r>
              <a:t>Tools only / Tools + RAG / Both</a:t>
            </a:r>
          </a:p>
        </p:txBody>
      </p:sp>
      <p:sp>
        <p:nvSpPr>
          <p:cNvPr id="11" name="Rounded Rectangle 10"/>
          <p:cNvSpPr/>
          <p:nvPr/>
        </p:nvSpPr>
        <p:spPr>
          <a:xfrm>
            <a:off x="5989320" y="3438144"/>
            <a:ext cx="2843784" cy="566928"/>
          </a:xfrm>
          <a:prstGeom prst="roundRect">
            <a:avLst/>
          </a:prstGeom>
          <a:solidFill>
            <a:srgbClr val="FFFFFF"/>
          </a:solidFill>
          <a:ln w="11430">
            <a:solidFill>
              <a:srgbClr val="E2D8CF"/>
            </a:solidFill>
          </a:ln>
          <a:effectLst/>
        </p:spPr>
        <p:style>
          <a:lnRef idx="1">
            <a:schemeClr val="accent1"/>
          </a:lnRef>
          <a:fillRef idx="3">
            <a:schemeClr val="accent1"/>
          </a:fillRef>
          <a:effectRef idx="2">
            <a:schemeClr val="accent1"/>
          </a:effectRef>
          <a:fontRef idx="minor">
            <a:schemeClr val="lt1"/>
          </a:fontRef>
        </p:style>
        <p:txBody>
          <a:bodyPr lIns="82296" rtlCol="0" anchor="ctr"/>
          <a:lstStyle/>
          <a:p>
            <a:pPr algn="ctr">
              <a:spcAft>
                <a:spcPts val="0"/>
              </a:spcAft>
              <a:defRPr sz="1000" b="1">
                <a:solidFill>
                  <a:srgbClr val="8C3F00"/>
                </a:solidFill>
              </a:defRPr>
            </a:pPr>
            <a:r>
              <a:t>RAG panel</a:t>
            </a:r>
          </a:p>
          <a:p>
            <a:pPr>
              <a:spcAft>
                <a:spcPts val="0"/>
              </a:spcAft>
              <a:defRPr sz="850" b="0">
                <a:solidFill>
                  <a:srgbClr val="6B6662"/>
                </a:solidFill>
              </a:defRPr>
            </a:pPr>
            <a:r>
              <a:t>queries, passages, pages, cosine scores</a:t>
            </a:r>
          </a:p>
        </p:txBody>
      </p:sp>
      <p:sp>
        <p:nvSpPr>
          <p:cNvPr id="12" name="Rounded Rectangle 11"/>
          <p:cNvSpPr/>
          <p:nvPr/>
        </p:nvSpPr>
        <p:spPr>
          <a:xfrm>
            <a:off x="5989320" y="4078224"/>
            <a:ext cx="2843784" cy="566928"/>
          </a:xfrm>
          <a:prstGeom prst="roundRect">
            <a:avLst/>
          </a:prstGeom>
          <a:solidFill>
            <a:srgbClr val="F7EEE7"/>
          </a:solidFill>
          <a:ln w="11430">
            <a:solidFill>
              <a:srgbClr val="E2D8CF"/>
            </a:solidFill>
          </a:ln>
          <a:effectLst/>
        </p:spPr>
        <p:style>
          <a:lnRef idx="1">
            <a:schemeClr val="accent1"/>
          </a:lnRef>
          <a:fillRef idx="3">
            <a:schemeClr val="accent1"/>
          </a:fillRef>
          <a:effectRef idx="2">
            <a:schemeClr val="accent1"/>
          </a:effectRef>
          <a:fontRef idx="minor">
            <a:schemeClr val="lt1"/>
          </a:fontRef>
        </p:style>
        <p:txBody>
          <a:bodyPr lIns="82296" rtlCol="0" anchor="ctr"/>
          <a:lstStyle/>
          <a:p>
            <a:pPr algn="ctr">
              <a:spcAft>
                <a:spcPts val="0"/>
              </a:spcAft>
              <a:defRPr sz="1000" b="1">
                <a:solidFill>
                  <a:srgbClr val="8C3F00"/>
                </a:solidFill>
              </a:defRPr>
            </a:pPr>
            <a:r>
              <a:t>Activity log</a:t>
            </a:r>
          </a:p>
          <a:p>
            <a:pPr>
              <a:spcAft>
                <a:spcPts val="0"/>
              </a:spcAft>
              <a:defRPr sz="850" b="0">
                <a:solidFill>
                  <a:srgbClr val="6B6662"/>
                </a:solidFill>
              </a:defRPr>
            </a:pPr>
            <a:r>
              <a:t>every stage and tool call, live</a:t>
            </a:r>
          </a:p>
        </p:txBody>
      </p:sp>
      <p:sp>
        <p:nvSpPr>
          <p:cNvPr id="13" name="TextBox 12"/>
          <p:cNvSpPr txBox="1"/>
          <p:nvPr/>
        </p:nvSpPr>
        <p:spPr>
          <a:xfrm>
            <a:off x="265853" y="4862843"/>
            <a:ext cx="8522208" cy="172355"/>
          </a:xfrm>
          <a:prstGeom prst="rect">
            <a:avLst/>
          </a:prstGeom>
          <a:noFill/>
        </p:spPr>
        <p:txBody>
          <a:bodyPr wrap="square" lIns="18288" tIns="9144" rIns="18288" bIns="9144">
            <a:spAutoFit/>
          </a:bodyPr>
          <a:lstStyle/>
          <a:p>
            <a:pPr algn="ctr">
              <a:spcAft>
                <a:spcPts val="400"/>
              </a:spcAft>
              <a:defRPr sz="1000" b="1">
                <a:solidFill>
                  <a:srgbClr val="8C3F00"/>
                </a:solidFill>
              </a:defRPr>
            </a:pPr>
            <a:r>
              <a:rPr dirty="0">
                <a:latin typeface="+mn-lt"/>
              </a:rPr>
              <a:t>The underwriter can see exactly which passages the narrative was written against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1203960"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FUTURE DIRECTIONS</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What I Would Do Differently, and Where This Goes Next</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10896" y="1316736"/>
            <a:ext cx="4160520" cy="310896"/>
          </a:xfrm>
          <a:prstGeom prst="roundRect">
            <a:avLst/>
          </a:prstGeom>
          <a:solidFill>
            <a:srgbClr val="8C3F00"/>
          </a:solidFill>
          <a:ln w="11430">
            <a:solidFill>
              <a:srgbClr val="8C3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defRPr sz="1050" b="1">
                <a:solidFill>
                  <a:srgbClr val="FFFFFF"/>
                </a:solidFill>
                <a:latin typeface="Arial Black"/>
              </a:defRPr>
            </a:pPr>
            <a:r>
              <a:rPr dirty="0"/>
              <a:t>  If I </a:t>
            </a:r>
            <a:r>
              <a:rPr lang="en-US" dirty="0"/>
              <a:t>redo</a:t>
            </a:r>
            <a:r>
              <a:rPr dirty="0"/>
              <a:t> the project</a:t>
            </a:r>
          </a:p>
        </p:txBody>
      </p:sp>
      <p:sp>
        <p:nvSpPr>
          <p:cNvPr id="7" name="TextBox 6"/>
          <p:cNvSpPr txBox="1"/>
          <p:nvPr/>
        </p:nvSpPr>
        <p:spPr>
          <a:xfrm>
            <a:off x="310896" y="1700784"/>
            <a:ext cx="4160520" cy="1926681"/>
          </a:xfrm>
          <a:prstGeom prst="rect">
            <a:avLst/>
          </a:prstGeom>
          <a:noFill/>
        </p:spPr>
        <p:txBody>
          <a:bodyPr wrap="square" lIns="18288" tIns="9144" rIns="18288" bIns="9144">
            <a:spAutoFit/>
          </a:bodyPr>
          <a:lstStyle/>
          <a:p>
            <a:pPr>
              <a:spcAft>
                <a:spcPts val="200"/>
              </a:spcAft>
              <a:defRPr sz="950" b="0">
                <a:solidFill>
                  <a:srgbClr val="333333"/>
                </a:solidFill>
              </a:defRPr>
            </a:pPr>
            <a:r>
              <a:rPr dirty="0">
                <a:latin typeface="+mn-lt"/>
              </a:rPr>
              <a:t>•  Model time-to-event, not a binary label. Collapsing follow-up months threw away my most informative signal: the biggest missed opportunity.</a:t>
            </a:r>
            <a:endParaRPr lang="en-US" dirty="0">
              <a:latin typeface="+mn-lt"/>
            </a:endParaRPr>
          </a:p>
          <a:p>
            <a:pPr>
              <a:spcAft>
                <a:spcPts val="200"/>
              </a:spcAft>
              <a:defRPr sz="950" b="0">
                <a:solidFill>
                  <a:srgbClr val="333333"/>
                </a:solidFill>
              </a:defRPr>
            </a:pPr>
            <a:endParaRPr dirty="0">
              <a:latin typeface="+mn-lt"/>
            </a:endParaRPr>
          </a:p>
          <a:p>
            <a:pPr>
              <a:spcAft>
                <a:spcPts val="200"/>
              </a:spcAft>
              <a:defRPr sz="950" b="0">
                <a:solidFill>
                  <a:srgbClr val="333333"/>
                </a:solidFill>
              </a:defRPr>
            </a:pPr>
            <a:r>
              <a:rPr dirty="0">
                <a:latin typeface="+mn-lt"/>
              </a:rPr>
              <a:t>•  Build the knowledge corpus first. </a:t>
            </a:r>
            <a:r>
              <a:rPr lang="en-US" dirty="0">
                <a:latin typeface="+mn-lt"/>
              </a:rPr>
              <a:t>Evaluate retrieval quality before generating reports.</a:t>
            </a:r>
          </a:p>
          <a:p>
            <a:pPr>
              <a:spcAft>
                <a:spcPts val="200"/>
              </a:spcAft>
              <a:defRPr sz="950" b="0">
                <a:solidFill>
                  <a:srgbClr val="333333"/>
                </a:solidFill>
              </a:defRPr>
            </a:pPr>
            <a:endParaRPr dirty="0">
              <a:latin typeface="+mn-lt"/>
            </a:endParaRPr>
          </a:p>
          <a:p>
            <a:pPr>
              <a:spcAft>
                <a:spcPts val="200"/>
              </a:spcAft>
              <a:defRPr sz="950" b="0">
                <a:solidFill>
                  <a:srgbClr val="333333"/>
                </a:solidFill>
              </a:defRPr>
            </a:pPr>
            <a:r>
              <a:rPr dirty="0">
                <a:latin typeface="+mn-lt"/>
              </a:rPr>
              <a:t>•  Treat the context window as a design parameter. An oversized RAG prompt silently stalled the model server.</a:t>
            </a:r>
            <a:endParaRPr lang="en-US" dirty="0">
              <a:latin typeface="+mn-lt"/>
            </a:endParaRPr>
          </a:p>
          <a:p>
            <a:pPr>
              <a:spcAft>
                <a:spcPts val="200"/>
              </a:spcAft>
              <a:defRPr sz="950" b="0">
                <a:solidFill>
                  <a:srgbClr val="333333"/>
                </a:solidFill>
              </a:defRPr>
            </a:pPr>
            <a:endParaRPr dirty="0">
              <a:latin typeface="+mn-lt"/>
            </a:endParaRPr>
          </a:p>
          <a:p>
            <a:pPr>
              <a:spcAft>
                <a:spcPts val="200"/>
              </a:spcAft>
              <a:defRPr sz="950" b="0">
                <a:solidFill>
                  <a:srgbClr val="333333"/>
                </a:solidFill>
              </a:defRPr>
            </a:pPr>
            <a:r>
              <a:rPr dirty="0">
                <a:latin typeface="+mn-lt"/>
              </a:rPr>
              <a:t>•  </a:t>
            </a:r>
            <a:r>
              <a:rPr lang="en-US" dirty="0">
                <a:latin typeface="+mn-lt"/>
              </a:rPr>
              <a:t>Faithfulness was operationalized after looking at the generated report. Define report quality metrics before generation and validate them on a larger, hand-labeled sample </a:t>
            </a:r>
            <a:r>
              <a:rPr dirty="0">
                <a:latin typeface="+mn-lt"/>
              </a:rPr>
              <a:t>and sample 50 applicants rather than 8.</a:t>
            </a:r>
          </a:p>
        </p:txBody>
      </p:sp>
      <p:sp>
        <p:nvSpPr>
          <p:cNvPr id="8" name="Rounded Rectangle 7"/>
          <p:cNvSpPr/>
          <p:nvPr/>
        </p:nvSpPr>
        <p:spPr>
          <a:xfrm>
            <a:off x="4663440" y="1316736"/>
            <a:ext cx="4178808" cy="310896"/>
          </a:xfrm>
          <a:prstGeom prst="roundRect">
            <a:avLst/>
          </a:prstGeom>
          <a:solidFill>
            <a:srgbClr val="BF5700"/>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defRPr sz="1050" b="1">
                <a:solidFill>
                  <a:srgbClr val="FFFFFF"/>
                </a:solidFill>
                <a:latin typeface="Arial Black"/>
              </a:defRPr>
            </a:pPr>
            <a:r>
              <a:t>  Future directions</a:t>
            </a:r>
          </a:p>
        </p:txBody>
      </p:sp>
      <p:sp>
        <p:nvSpPr>
          <p:cNvPr id="9" name="TextBox 8"/>
          <p:cNvSpPr txBox="1"/>
          <p:nvPr/>
        </p:nvSpPr>
        <p:spPr>
          <a:xfrm>
            <a:off x="4663440" y="1700784"/>
            <a:ext cx="4178808" cy="1977977"/>
          </a:xfrm>
          <a:prstGeom prst="rect">
            <a:avLst/>
          </a:prstGeom>
          <a:noFill/>
        </p:spPr>
        <p:txBody>
          <a:bodyPr wrap="square" lIns="18288" tIns="9144" rIns="18288" bIns="9144">
            <a:spAutoFit/>
          </a:bodyPr>
          <a:lstStyle/>
          <a:p>
            <a:pPr>
              <a:spcAft>
                <a:spcPts val="200"/>
              </a:spcAft>
              <a:defRPr sz="950" b="0">
                <a:solidFill>
                  <a:srgbClr val="333333"/>
                </a:solidFill>
              </a:defRPr>
            </a:pPr>
            <a:r>
              <a:rPr dirty="0">
                <a:latin typeface="+mn-lt"/>
              </a:rPr>
              <a:t>•  Survival modelling (Cox / discrete-time) so risk becomes a horizon-specific curve, which is how policies are actually priced.</a:t>
            </a:r>
            <a:endParaRPr lang="en-US" dirty="0">
              <a:latin typeface="+mn-lt"/>
            </a:endParaRPr>
          </a:p>
          <a:p>
            <a:pPr>
              <a:spcAft>
                <a:spcPts val="200"/>
              </a:spcAft>
              <a:defRPr sz="950" b="0">
                <a:solidFill>
                  <a:srgbClr val="333333"/>
                </a:solidFill>
              </a:defRPr>
            </a:pPr>
            <a:endParaRPr dirty="0">
              <a:latin typeface="+mn-lt"/>
            </a:endParaRPr>
          </a:p>
          <a:p>
            <a:pPr>
              <a:spcAft>
                <a:spcPts val="200"/>
              </a:spcAft>
              <a:defRPr sz="950" b="0">
                <a:solidFill>
                  <a:srgbClr val="333333"/>
                </a:solidFill>
              </a:defRPr>
            </a:pPr>
            <a:r>
              <a:rPr dirty="0">
                <a:latin typeface="+mn-lt"/>
              </a:rPr>
              <a:t>•  Calibration and fairness auditing by subgroup. Race, sex and socioeconomic status are among the drivers, so this is an ethical prerequisite.</a:t>
            </a:r>
            <a:endParaRPr lang="en-US" dirty="0">
              <a:latin typeface="+mn-lt"/>
            </a:endParaRPr>
          </a:p>
          <a:p>
            <a:pPr>
              <a:spcAft>
                <a:spcPts val="200"/>
              </a:spcAft>
              <a:defRPr sz="950" b="0">
                <a:solidFill>
                  <a:srgbClr val="333333"/>
                </a:solidFill>
              </a:defRPr>
            </a:pPr>
            <a:endParaRPr dirty="0">
              <a:latin typeface="+mn-lt"/>
            </a:endParaRPr>
          </a:p>
          <a:p>
            <a:pPr>
              <a:spcAft>
                <a:spcPts val="200"/>
              </a:spcAft>
              <a:defRPr sz="950" b="0">
                <a:solidFill>
                  <a:srgbClr val="333333"/>
                </a:solidFill>
              </a:defRPr>
            </a:pPr>
            <a:r>
              <a:rPr dirty="0">
                <a:latin typeface="+mn-lt"/>
              </a:rPr>
              <a:t>•  Traditional vs agentic RAG head to head: how often would an agent skip retrieval, and at what cost?</a:t>
            </a:r>
            <a:endParaRPr lang="en-US" dirty="0">
              <a:latin typeface="+mn-lt"/>
            </a:endParaRPr>
          </a:p>
          <a:p>
            <a:pPr>
              <a:spcAft>
                <a:spcPts val="200"/>
              </a:spcAft>
              <a:defRPr sz="950" b="0">
                <a:solidFill>
                  <a:srgbClr val="333333"/>
                </a:solidFill>
              </a:defRPr>
            </a:pPr>
            <a:endParaRPr dirty="0">
              <a:latin typeface="+mn-lt"/>
            </a:endParaRPr>
          </a:p>
          <a:p>
            <a:pPr>
              <a:spcAft>
                <a:spcPts val="200"/>
              </a:spcAft>
              <a:defRPr sz="950" b="0">
                <a:solidFill>
                  <a:srgbClr val="333333"/>
                </a:solidFill>
              </a:defRPr>
            </a:pPr>
            <a:r>
              <a:rPr dirty="0">
                <a:latin typeface="+mn-lt"/>
              </a:rPr>
              <a:t>•  Expert adjudication of whether each citation supports its claim.</a:t>
            </a:r>
            <a:endParaRPr lang="en-US" dirty="0">
              <a:latin typeface="+mn-lt"/>
            </a:endParaRPr>
          </a:p>
          <a:p>
            <a:pPr>
              <a:spcAft>
                <a:spcPts val="200"/>
              </a:spcAft>
              <a:defRPr sz="950" b="0">
                <a:solidFill>
                  <a:srgbClr val="333333"/>
                </a:solidFill>
              </a:defRPr>
            </a:pPr>
            <a:endParaRPr dirty="0">
              <a:latin typeface="+mn-lt"/>
            </a:endParaRPr>
          </a:p>
          <a:p>
            <a:pPr>
              <a:spcAft>
                <a:spcPts val="200"/>
              </a:spcAft>
              <a:defRPr sz="950" b="0">
                <a:solidFill>
                  <a:srgbClr val="333333"/>
                </a:solidFill>
              </a:defRPr>
            </a:pPr>
            <a:r>
              <a:rPr dirty="0">
                <a:latin typeface="+mn-lt"/>
              </a:rPr>
              <a:t>•  Human evaluation with practicing underwriters.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0624"/>
            <a:ext cx="9144000" cy="47228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 y="484632"/>
            <a:ext cx="1051560" cy="246888"/>
          </a:xfrm>
          <a:prstGeom prst="roundRect">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spcAft>
                <a:spcPts val="400"/>
              </a:spcAft>
              <a:defRPr sz="900" b="1">
                <a:solidFill>
                  <a:srgbClr val="FFFFFF"/>
                </a:solidFill>
              </a:defRPr>
            </a:pPr>
            <a:r>
              <a:rPr dirty="0"/>
              <a:t>CONCLUSION</a:t>
            </a:r>
          </a:p>
        </p:txBody>
      </p:sp>
      <p:sp>
        <p:nvSpPr>
          <p:cNvPr id="4" name="TextBox 3"/>
          <p:cNvSpPr txBox="1"/>
          <p:nvPr/>
        </p:nvSpPr>
        <p:spPr>
          <a:xfrm>
            <a:off x="274320" y="777240"/>
            <a:ext cx="8522208" cy="326243"/>
          </a:xfrm>
          <a:prstGeom prst="rect">
            <a:avLst/>
          </a:prstGeom>
          <a:noFill/>
        </p:spPr>
        <p:txBody>
          <a:bodyPr wrap="square" lIns="18288" tIns="9144" rIns="18288" bIns="9144">
            <a:spAutoFit/>
          </a:bodyPr>
          <a:lstStyle/>
          <a:p>
            <a:pPr>
              <a:spcAft>
                <a:spcPts val="400"/>
              </a:spcAft>
              <a:defRPr sz="2000" b="1">
                <a:solidFill>
                  <a:srgbClr val="8C3F00"/>
                </a:solidFill>
                <a:latin typeface="Arial Black"/>
              </a:defRPr>
            </a:pPr>
            <a:r>
              <a:rPr>
                <a:latin typeface="+mn-lt"/>
              </a:rPr>
              <a:t>Conclusion</a:t>
            </a:r>
          </a:p>
        </p:txBody>
      </p:sp>
      <p:sp>
        <p:nvSpPr>
          <p:cNvPr id="5" name="Rectangle 4"/>
          <p:cNvSpPr/>
          <p:nvPr/>
        </p:nvSpPr>
        <p:spPr>
          <a:xfrm>
            <a:off x="274320" y="1197864"/>
            <a:ext cx="8522208" cy="25603"/>
          </a:xfrm>
          <a:prstGeom prst="rect">
            <a:avLst/>
          </a:prstGeom>
          <a:solidFill>
            <a:srgbClr val="BF5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10896" y="1316736"/>
            <a:ext cx="2011680" cy="731520"/>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0.907</a:t>
            </a:r>
          </a:p>
          <a:p>
            <a:pPr algn="ctr">
              <a:spcAft>
                <a:spcPts val="0"/>
              </a:spcAft>
              <a:defRPr sz="850" b="0">
                <a:solidFill>
                  <a:srgbClr val="6B6662"/>
                </a:solidFill>
              </a:defRPr>
            </a:pPr>
            <a:r>
              <a:t>XGBoost AUROC</a:t>
            </a:r>
          </a:p>
        </p:txBody>
      </p:sp>
      <p:sp>
        <p:nvSpPr>
          <p:cNvPr id="7" name="Rounded Rectangle 6"/>
          <p:cNvSpPr/>
          <p:nvPr/>
        </p:nvSpPr>
        <p:spPr>
          <a:xfrm>
            <a:off x="2459736" y="1316736"/>
            <a:ext cx="2011680" cy="731520"/>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+0.003</a:t>
            </a:r>
          </a:p>
          <a:p>
            <a:pPr algn="ctr">
              <a:spcAft>
                <a:spcPts val="0"/>
              </a:spcAft>
              <a:defRPr sz="850" b="0">
                <a:solidFill>
                  <a:srgbClr val="6B6662"/>
                </a:solidFill>
              </a:defRPr>
            </a:pPr>
            <a:r>
              <a:t>gain over the GLM</a:t>
            </a:r>
          </a:p>
        </p:txBody>
      </p:sp>
      <p:sp>
        <p:nvSpPr>
          <p:cNvPr id="8" name="Rounded Rectangle 7"/>
          <p:cNvSpPr/>
          <p:nvPr/>
        </p:nvSpPr>
        <p:spPr>
          <a:xfrm>
            <a:off x="4608576" y="1316736"/>
            <a:ext cx="2011680" cy="731520"/>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8 / 8</a:t>
            </a:r>
          </a:p>
          <a:p>
            <a:pPr algn="ctr">
              <a:spcAft>
                <a:spcPts val="0"/>
              </a:spcAft>
              <a:defRPr sz="850" b="0">
                <a:solidFill>
                  <a:srgbClr val="6B6662"/>
                </a:solidFill>
              </a:defRPr>
            </a:pPr>
            <a:r>
              <a:t>faithful reports</a:t>
            </a:r>
          </a:p>
        </p:txBody>
      </p:sp>
      <p:sp>
        <p:nvSpPr>
          <p:cNvPr id="9" name="Rounded Rectangle 8"/>
          <p:cNvSpPr/>
          <p:nvPr/>
        </p:nvSpPr>
        <p:spPr>
          <a:xfrm>
            <a:off x="6757416" y="1316736"/>
            <a:ext cx="2011680" cy="731520"/>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Aft>
                <a:spcPts val="0"/>
              </a:spcAft>
              <a:defRPr sz="1900" b="1">
                <a:solidFill>
                  <a:srgbClr val="8C3F00"/>
                </a:solidFill>
                <a:latin typeface="Arial Black"/>
              </a:defRPr>
            </a:pPr>
            <a:r>
              <a:t>3.0</a:t>
            </a:r>
          </a:p>
          <a:p>
            <a:pPr algn="ctr">
              <a:spcAft>
                <a:spcPts val="0"/>
              </a:spcAft>
              <a:defRPr sz="850" b="0">
                <a:solidFill>
                  <a:srgbClr val="6B6662"/>
                </a:solidFill>
              </a:defRPr>
            </a:pPr>
            <a:r>
              <a:t>citations per report</a:t>
            </a:r>
          </a:p>
        </p:txBody>
      </p:sp>
      <p:sp>
        <p:nvSpPr>
          <p:cNvPr id="10" name="TextBox 9"/>
          <p:cNvSpPr txBox="1"/>
          <p:nvPr/>
        </p:nvSpPr>
        <p:spPr>
          <a:xfrm>
            <a:off x="310896" y="2185415"/>
            <a:ext cx="8522208" cy="2054922"/>
          </a:xfrm>
          <a:prstGeom prst="rect">
            <a:avLst/>
          </a:prstGeom>
          <a:noFill/>
        </p:spPr>
        <p:txBody>
          <a:bodyPr wrap="square" lIns="18288" tIns="9144" rIns="18288" bIns="9144">
            <a:spAutoFit/>
          </a:bodyPr>
          <a:lstStyle/>
          <a:p>
            <a:pPr>
              <a:spcAft>
                <a:spcPts val="500"/>
              </a:spcAft>
              <a:defRPr sz="1100" b="0">
                <a:solidFill>
                  <a:srgbClr val="333333"/>
                </a:solidFill>
              </a:defRPr>
            </a:pPr>
            <a:r>
              <a:rPr dirty="0">
                <a:latin typeface="+mn-lt"/>
              </a:rPr>
              <a:t>•  A fully local, reproducible pipeline: prediction, SHAP, agentic narrative, retrieval grounding and a demo interface.</a:t>
            </a:r>
            <a:endParaRPr lang="en-US" dirty="0">
              <a:latin typeface="+mn-lt"/>
            </a:endParaRPr>
          </a:p>
          <a:p>
            <a:pPr>
              <a:spcAft>
                <a:spcPts val="500"/>
              </a:spcAft>
              <a:defRPr sz="1100" b="0">
                <a:solidFill>
                  <a:srgbClr val="333333"/>
                </a:solidFill>
              </a:defRPr>
            </a:pPr>
            <a:endParaRPr dirty="0">
              <a:latin typeface="+mn-lt"/>
            </a:endParaRPr>
          </a:p>
          <a:p>
            <a:pPr>
              <a:spcAft>
                <a:spcPts val="500"/>
              </a:spcAft>
              <a:defRPr sz="1100" b="0">
                <a:solidFill>
                  <a:srgbClr val="333333"/>
                </a:solidFill>
              </a:defRPr>
            </a:pPr>
            <a:r>
              <a:rPr dirty="0">
                <a:latin typeface="+mn-lt"/>
              </a:rPr>
              <a:t>•  </a:t>
            </a:r>
            <a:r>
              <a:rPr lang="en-US" dirty="0">
                <a:latin typeface="+mn-lt"/>
              </a:rPr>
              <a:t>On this dataset the GLM held its own; XGBoost/NN, comparable here, gain relevance once more nonlinear features are introduced.</a:t>
            </a:r>
          </a:p>
          <a:p>
            <a:pPr>
              <a:spcAft>
                <a:spcPts val="500"/>
              </a:spcAft>
              <a:defRPr sz="1100" b="0">
                <a:solidFill>
                  <a:srgbClr val="333333"/>
                </a:solidFill>
              </a:defRPr>
            </a:pPr>
            <a:endParaRPr dirty="0">
              <a:latin typeface="+mn-lt"/>
            </a:endParaRPr>
          </a:p>
          <a:p>
            <a:pPr>
              <a:spcAft>
                <a:spcPts val="500"/>
              </a:spcAft>
              <a:defRPr sz="1100" b="0">
                <a:solidFill>
                  <a:srgbClr val="333333"/>
                </a:solidFill>
              </a:defRPr>
            </a:pPr>
            <a:r>
              <a:rPr dirty="0">
                <a:latin typeface="+mn-lt"/>
              </a:rPr>
              <a:t>•  Separating prediction from explanation kept narratives faithful to the model rather than to the language model’s </a:t>
            </a:r>
            <a:r>
              <a:rPr lang="en-US" dirty="0">
                <a:latin typeface="+mn-lt"/>
              </a:rPr>
              <a:t>parametric memory</a:t>
            </a:r>
            <a:r>
              <a:rPr dirty="0">
                <a:latin typeface="+mn-lt"/>
              </a:rPr>
              <a:t>.</a:t>
            </a:r>
            <a:endParaRPr lang="en-US" dirty="0">
              <a:latin typeface="+mn-lt"/>
            </a:endParaRPr>
          </a:p>
          <a:p>
            <a:pPr>
              <a:spcAft>
                <a:spcPts val="500"/>
              </a:spcAft>
              <a:defRPr sz="1100" b="0">
                <a:solidFill>
                  <a:srgbClr val="333333"/>
                </a:solidFill>
              </a:defRPr>
            </a:pPr>
            <a:endParaRPr dirty="0">
              <a:latin typeface="+mn-lt"/>
            </a:endParaRPr>
          </a:p>
          <a:p>
            <a:pPr>
              <a:spcAft>
                <a:spcPts val="500"/>
              </a:spcAft>
              <a:defRPr sz="1100" b="0">
                <a:solidFill>
                  <a:srgbClr val="333333"/>
                </a:solidFill>
              </a:defRPr>
            </a:pPr>
            <a:r>
              <a:rPr dirty="0">
                <a:latin typeface="+mn-lt"/>
              </a:rPr>
              <a:t>•  Main transferable lesson: grounding is an architectural property. WHERE the retrieval decision sits determines whether it can be guaranteed.</a:t>
            </a:r>
            <a:endParaRPr lang="en-US" dirty="0">
              <a:latin typeface="+mn-lt"/>
            </a:endParaRPr>
          </a:p>
          <a:p>
            <a:pPr>
              <a:spcAft>
                <a:spcPts val="500"/>
              </a:spcAft>
              <a:defRPr sz="1100" b="0">
                <a:solidFill>
                  <a:srgbClr val="333333"/>
                </a:solidFill>
              </a:defRPr>
            </a:pPr>
            <a:endParaRPr dirty="0">
              <a:latin typeface="+mn-lt"/>
            </a:endParaRPr>
          </a:p>
          <a:p>
            <a:pPr>
              <a:spcAft>
                <a:spcPts val="500"/>
              </a:spcAft>
              <a:defRPr sz="1100" b="0">
                <a:solidFill>
                  <a:srgbClr val="333333"/>
                </a:solidFill>
              </a:defRPr>
            </a:pPr>
            <a:r>
              <a:rPr dirty="0">
                <a:latin typeface="+mn-lt"/>
              </a:rPr>
              <a:t>•  Everything runs offline on one machine, so no patient data leaves it</a:t>
            </a:r>
            <a:r>
              <a:rPr lang="en-US" dirty="0">
                <a:latin typeface="+mn-lt"/>
              </a:rPr>
              <a:t> if run for more real sensitive patient data and features</a:t>
            </a:r>
            <a:r>
              <a:rPr dirty="0">
                <a:latin typeface="+mn-lt"/>
              </a:rPr>
              <a:t>.</a:t>
            </a:r>
          </a:p>
        </p:txBody>
      </p:sp>
      <p:sp>
        <p:nvSpPr>
          <p:cNvPr id="11" name="Rounded Rectangle 10"/>
          <p:cNvSpPr/>
          <p:nvPr/>
        </p:nvSpPr>
        <p:spPr>
          <a:xfrm>
            <a:off x="310896" y="4407408"/>
            <a:ext cx="8522208" cy="402336"/>
          </a:xfrm>
          <a:prstGeom prst="roundRect">
            <a:avLst/>
          </a:prstGeom>
          <a:solidFill>
            <a:srgbClr val="F7EEE7"/>
          </a:solidFill>
          <a:ln w="11430">
            <a:solidFill>
              <a:srgbClr val="BF5700"/>
            </a:solidFill>
          </a:ln>
          <a:effectLst/>
        </p:spPr>
        <p:style>
          <a:lnRef idx="1">
            <a:schemeClr val="accent1"/>
          </a:lnRef>
          <a:fillRef idx="3">
            <a:schemeClr val="accent1"/>
          </a:fillRef>
          <a:effectRef idx="2">
            <a:schemeClr val="accent1"/>
          </a:effectRef>
          <a:fontRef idx="minor">
            <a:schemeClr val="lt1"/>
          </a:fontRef>
        </p:style>
        <p:txBody>
          <a:bodyPr lIns="109728" rtlCol="0" anchor="ctr"/>
          <a:lstStyle/>
          <a:p>
            <a:pPr algn="ctr">
              <a:spcAft>
                <a:spcPts val="400"/>
              </a:spcAft>
              <a:defRPr sz="1050" b="1">
                <a:solidFill>
                  <a:srgbClr val="8C3F00"/>
                </a:solidFill>
              </a:defRPr>
            </a:pPr>
            <a:r>
              <a:t>Thank you.    Report, code, notebooks and demo are included with the submission.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F5700"/>
        </a:solidFill>
        <a:effectLst/>
      </p:bgPr>
    </p:bg>
    <p:spTree>
      <p:nvGrpSpPr>
        <p:cNvPr id="1" name="">
          <a:extLst>
            <a:ext uri="{FF2B5EF4-FFF2-40B4-BE49-F238E27FC236}">
              <a16:creationId xmlns:a16="http://schemas.microsoft.com/office/drawing/2014/main" id="{157C7D5A-AF12-A554-75B9-DDB459A2F80B}"/>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3E3DFED-55FA-CA33-FF70-0935BA4305A5}"/>
              </a:ext>
            </a:extLst>
          </p:cNvPr>
          <p:cNvCxnSpPr/>
          <p:nvPr/>
        </p:nvCxnSpPr>
        <p:spPr>
          <a:xfrm>
            <a:off x="628650" y="3105150"/>
            <a:ext cx="56197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Placeholder 7">
            <a:extLst>
              <a:ext uri="{FF2B5EF4-FFF2-40B4-BE49-F238E27FC236}">
                <a16:creationId xmlns:a16="http://schemas.microsoft.com/office/drawing/2014/main" id="{3159B070-AE85-2863-AA8C-BD96B9AD1EE3}"/>
              </a:ext>
            </a:extLst>
          </p:cNvPr>
          <p:cNvSpPr txBox="1">
            <a:spLocks/>
          </p:cNvSpPr>
          <p:nvPr/>
        </p:nvSpPr>
        <p:spPr>
          <a:xfrm>
            <a:off x="502920" y="2038349"/>
            <a:ext cx="7886700" cy="914400"/>
          </a:xfrm>
          <a:prstGeom prst="rect">
            <a:avLst/>
          </a:prstGeom>
        </p:spPr>
        <p:txBody>
          <a:bodyPr vert="horz" wrap="square" lIns="91440" tIns="45720" rIns="91440" bIns="45720" rtlCol="0" anchor="b">
            <a:noAutofit/>
          </a:bodyPr>
          <a:lstStyle>
            <a:lvl1pPr algn="l" defTabSz="914400" rtl="0" eaLnBrk="1" latinLnBrk="0" hangingPunct="1">
              <a:lnSpc>
                <a:spcPts val="4000"/>
              </a:lnSpc>
              <a:spcBef>
                <a:spcPct val="0"/>
              </a:spcBef>
              <a:buNone/>
              <a:defRPr sz="4800" b="1" i="0" kern="800" cap="all" normalizeH="0" baseline="0">
                <a:solidFill>
                  <a:schemeClr val="bg1"/>
                </a:solidFill>
                <a:latin typeface="Arial Black" charset="0"/>
                <a:ea typeface="Arial Black" charset="0"/>
                <a:cs typeface="Arial Black" charset="0"/>
              </a:defRPr>
            </a:lvl1pPr>
          </a:lstStyle>
          <a:p>
            <a:pPr marL="0" marR="0" lvl="0" indent="0" algn="l" defTabSz="914400" rtl="0" eaLnBrk="1" fontAlgn="auto" latinLnBrk="0" hangingPunct="1">
              <a:lnSpc>
                <a:spcPts val="4000"/>
              </a:lnSpc>
              <a:spcBef>
                <a:spcPct val="0"/>
              </a:spcBef>
              <a:spcAft>
                <a:spcPts val="0"/>
              </a:spcAft>
              <a:buClrTx/>
              <a:buSzTx/>
              <a:buFontTx/>
              <a:buNone/>
              <a:tabLst/>
              <a:defRPr/>
            </a:pPr>
            <a:r>
              <a:rPr kumimoji="0" lang="en-US" sz="4800" b="1" i="0" u="none" strike="noStrike" kern="800" cap="all" spc="0" normalizeH="0" baseline="0" noProof="0" dirty="0">
                <a:ln>
                  <a:noFill/>
                </a:ln>
                <a:solidFill>
                  <a:srgbClr val="FFFFFF"/>
                </a:solidFill>
                <a:effectLst/>
                <a:uLnTx/>
                <a:uFillTx/>
                <a:latin typeface="Arial Black" charset="0"/>
              </a:rPr>
              <a:t>Live Demo</a:t>
            </a:r>
          </a:p>
        </p:txBody>
      </p:sp>
      <p:pic>
        <p:nvPicPr>
          <p:cNvPr id="16" name="Picture 15">
            <a:extLst>
              <a:ext uri="{FF2B5EF4-FFF2-40B4-BE49-F238E27FC236}">
                <a16:creationId xmlns:a16="http://schemas.microsoft.com/office/drawing/2014/main" id="{2A70E1D0-3BD9-2485-1FFB-5F7D2A2E3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8699" y="320040"/>
            <a:ext cx="1877397" cy="914400"/>
          </a:xfrm>
          <a:prstGeom prst="rect">
            <a:avLst/>
          </a:prstGeom>
        </p:spPr>
      </p:pic>
    </p:spTree>
    <p:extLst>
      <p:ext uri="{BB962C8B-B14F-4D97-AF65-F5344CB8AC3E}">
        <p14:creationId xmlns:p14="http://schemas.microsoft.com/office/powerpoint/2010/main" val="649124958"/>
      </p:ext>
    </p:extLst>
  </p:cSld>
  <p:clrMapOvr>
    <a:masterClrMapping/>
  </p:clrMapOvr>
</p:sld>
</file>

<file path=ppt/theme/theme1.xml><?xml version="1.0" encoding="utf-8"?>
<a:theme xmlns:a="http://schemas.openxmlformats.org/drawingml/2006/main" name="16-9 Cover">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6-9 Light Background">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6-9 White Backgroud">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ctr">
          <a:defRPr sz="1100" b="1" i="1" dirty="0" smtClean="0">
            <a:solidFill>
              <a:srgbClr val="BF5700"/>
            </a:solidFill>
            <a:latin typeface="+mn-lt"/>
          </a:defRPr>
        </a:defPPr>
      </a:lstStyle>
    </a:tx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396DBB9-D2E1-6143-BE51-E7F098400768}">
  <we:reference id="8bc018e3-f345-40d4-8f1d-97951765d531" version="3.0.0.0" store="EXCatalog" storeType="EXCatalog"/>
  <we:alternateReferences>
    <we:reference id="WA104380862" version="3.0.0.0" store="en-US"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2d48d056-9dcf-480d-be28-f64a2de71bca}" enabled="1" method="Standard" siteId="{1345b410-9694-46f3-9c42-132a582646b5}" removed="0"/>
</clbl:labelList>
</file>

<file path=docProps/app.xml><?xml version="1.0" encoding="utf-8"?>
<Properties xmlns="http://schemas.openxmlformats.org/officeDocument/2006/extended-properties" xmlns:vt="http://schemas.openxmlformats.org/officeDocument/2006/docPropsVTypes">
  <Template/>
  <TotalTime>10474</TotalTime>
  <Words>2505</Words>
  <Application>Microsoft Office PowerPoint</Application>
  <PresentationFormat>On-screen Show (16:9)</PresentationFormat>
  <Paragraphs>241</Paragraphs>
  <Slides>14</Slides>
  <Notes>14</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14</vt:i4>
      </vt:variant>
    </vt:vector>
  </HeadingPairs>
  <TitlesOfParts>
    <vt:vector size="20" baseType="lpstr">
      <vt:lpstr>Arial</vt:lpstr>
      <vt:lpstr>Arial Black</vt:lpstr>
      <vt:lpstr>Calibri</vt:lpstr>
      <vt:lpstr>16-9 Cover</vt:lpstr>
      <vt:lpstr>16-9 Light Background</vt:lpstr>
      <vt:lpstr>16-9 White Backgroud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dc:subject/>
  <dc:creator>University Marketing and Creative Services</dc:creator>
  <cp:keywords/>
  <dc:description/>
  <cp:lastModifiedBy>Sahu, Ashin Bhooshan</cp:lastModifiedBy>
  <cp:revision>523</cp:revision>
  <cp:lastPrinted>2011-01-24T02:49:42Z</cp:lastPrinted>
  <dcterms:created xsi:type="dcterms:W3CDTF">2011-06-30T15:04:08Z</dcterms:created>
  <dcterms:modified xsi:type="dcterms:W3CDTF">2026-08-05T18:22:52Z</dcterms:modified>
  <cp:category/>
</cp:coreProperties>
</file>